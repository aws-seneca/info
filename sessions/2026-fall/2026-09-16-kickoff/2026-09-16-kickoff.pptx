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Arrive 20-30 min early. Slides loaded, AWS Console open and already logged in, demo HTML ready locally, Discord QR tested, food and music out before people arrive.</a:t>
            </a:r>
            <a:br>
              <a:rPr lang="en-US"/>
            </a:br>
            <a:r>
              <a:rPr lang="en-US"/>
              <a:t>This slide runs while people walk in. Play music, talk to people already seated, do not stand at the front staring at the screen. Wait for a natural pause in the room energy before starting. (~2 min)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combines Welcome + Tonight. Say the welcome line warmly, then: 'Quick rundown of what tonight looks like... should take about an hour.'</a:t>
            </a:r>
            <a:br>
              <a:rPr lang="en-US"/>
            </a:br>
            <a:r>
              <a:rPr lang="en-US"/>
              <a:t>Then say housekeeping out loud now, plainly, so it is not a surprise later: feedback form after every event, and everyone joins Discord before they leave tonight, with a QR code, ten seconds.</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a three-part show of hands using the three prompts on screen. Laugh warmly at the third group: 'Perfect, you're exactly who this club is for.'</a:t>
            </a:r>
            <a:br>
              <a:rPr lang="en-US"/>
            </a:br>
            <a:r>
              <a:rPr lang="en-US"/>
              <a:t>This breaks physical passivity before you've said anything of substance, and signals curiosity is welcome. Read the room: if most hands are in group two, you're speaking to curious beginners. (~2 min)</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just read the slide. Say: 'I want to be upfront about what this is and what it isn't. A lot of clubs are good for attendance, maybe good for your LinkedIn. This one is built differently.'</a:t>
            </a:r>
            <a:br>
              <a:rPr lang="en-US"/>
            </a:br>
            <a:r>
              <a:rPr lang="en-US"/>
              <a:t>Deliver this like you mean it, because you do. (~3 min)</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9c1b19280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g3f9c1b19280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Strip away every abstraction before introducing any new ones. 'The cloud is not magic. It's a datacenter, a building full of servers, that you access over the internet instead of managing yourself.'</a:t>
            </a:r>
            <a:br>
              <a:rPr lang="en-US"/>
            </a:br>
            <a:r>
              <a:rPr lang="en-US"/>
              <a:t>This slide feels too simple to bother with. Do not skip it. People who've touched AWS will nod along; people who haven't will feel the doors open. (~3 min)</a:t>
            </a:r>
            <a:endParaRPr/>
          </a:p>
        </p:txBody>
      </p:sp>
      <p:sp>
        <p:nvSpPr>
          <p:cNvPr id="74" name="Google Shape;74;g3f9c1b19280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real company logos before the event, not stock clouds. 'Before cloud computing existed, if your product went viral you had to buy more servers. That took weeks. AWS changed that completely.'</a:t>
            </a:r>
            <a:br>
              <a:rPr lang="en-US"/>
            </a:br>
            <a:r>
              <a:rPr lang="en-US"/>
              <a:t>When you're job hunting, this isn't niche knowledge anymore, it's expected. (~3 min)</a:t>
            </a:r>
            <a:endParaRPr/>
          </a:p>
        </p:txBody>
      </p:sp>
      <p:sp>
        <p:nvSpPr>
          <p:cNvPr id="85" name="Google Shape;8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There are over 200 AWS services. Most engineers spend 90% of their time in fewer than ten. These five show up in almost every architecture and every job posting.</a:t>
            </a:r>
            <a:br>
              <a:rPr lang="en-US"/>
            </a:br>
            <a:r>
              <a:rPr lang="en-US"/>
              <a:t>Go through each in thirty seconds or less. The goal is familiarity, not comprehension, so it clicks when they hear it again at Event 2. (~4 min)</a:t>
            </a:r>
            <a:endParaRPr/>
          </a:p>
        </p:txBody>
      </p:sp>
      <p:sp>
        <p:nvSpPr>
          <p:cNvPr id="104" name="Google Shape;1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a few real job postings the week of the event so the data is fresh. Salary numbers and job titles are blunt instruments but they work.</a:t>
            </a:r>
            <a:br>
              <a:rPr lang="en-US"/>
            </a:br>
            <a:r>
              <a:rPr lang="en-US"/>
              <a:t>'By the hackathon, a real number of people in this room should be ready to sit the exam.' (~3 min)</a:t>
            </a:r>
            <a:endParaRPr/>
          </a:p>
        </p:txBody>
      </p:sp>
      <p:sp>
        <p:nvSpPr>
          <p:cNvPr id="124" name="Google Shape;1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this slide: introduce everybody on the exec team. Let the room get familiar with who's who and know that everyone here is around to help them.</a:t>
            </a:r>
            <a:br>
              <a:rPr lang="en-US"/>
            </a:br>
            <a:r>
              <a:rPr lang="en-US"/>
              <a:t>We're not doing random topics each month, there's a progression: fundamentals, then system design, then actually shipping things.</a:t>
            </a:r>
            <a:br>
              <a:rPr lang="en-US"/>
            </a:br>
            <a:r>
              <a:rPr lang="en-US"/>
              <a:t>Name the highlights specifically. Event 2, our very next one, is a hands-on workshop, everyone leaves with something running on AWS, bring your laptop. Event 4 is a career panel, we're bringing in people from industry for a real Q&amp;A. Event 7 is the hackathon, the one I'm most excited about, it's where all of this pays off. Give Event 2 slightly more airtime since it's happening next. (~4 min)</a:t>
            </a:r>
            <a:endParaRPr/>
          </a:p>
        </p:txBody>
      </p:sp>
      <p:sp>
        <p:nvSpPr>
          <p:cNvPr id="141" name="Google Shape;14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explicit: this list is not a soft pitch about community, it's specific things you will have that you don't have now.</a:t>
            </a:r>
            <a:br>
              <a:rPr lang="en-US"/>
            </a:br>
            <a:r>
              <a:rPr lang="en-US"/>
              <a:t>The connections category is often undervalued in the pitch but overdelivered in practice. Acknowledge it but don't oversell it, let it be a pleasant surprise. (~3 min)</a:t>
            </a:r>
            <a:endParaRPr/>
          </a:p>
        </p:txBody>
      </p:sp>
      <p:sp>
        <p:nvSpPr>
          <p:cNvPr id="170" name="Google Shape;1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Say 'no gatekeeping' at least twice and mean it both times: 'You do not need to know anything about AWS to belong here. If you're the person who showed up with no idea what any of this is, welcome. You're not behind.'</a:t>
            </a:r>
            <a:br>
              <a:rPr lang="en-US"/>
            </a:br>
            <a:r>
              <a:rPr lang="en-US"/>
              <a:t>The culture you describe in the first meeting is the culture that sticks, make sure the actual behavior matches. (~3 min)</a:t>
            </a:r>
            <a:endParaRPr/>
          </a:p>
        </p:txBody>
      </p:sp>
      <p:sp>
        <p:nvSpPr>
          <p:cNvPr id="203" name="Google Shape;2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Switch modes here. Close the slide deck, open the browser. 'I want to show you something live before we wrap up. This is the kind of thing you'll be able to do yourself after Event 2. Watch what happens.'</a:t>
            </a:r>
            <a:br>
              <a:rPr lang="en-US"/>
            </a:br>
            <a:r>
              <a:rPr lang="en-US"/>
              <a:t>Don't explain what you're about to do in detail, just say watch and do it. (30 sec)</a:t>
            </a:r>
            <a:endParaRPr/>
          </a:p>
        </p:txBody>
      </p:sp>
      <p:sp>
        <p:nvSpPr>
          <p:cNvPr id="223" name="Google Shape;22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Full step by step is in the runbook. Say the region out loud when you set it: 'We're putting this in Canada, that's the AWS datacenter in Montreal.'</a:t>
            </a:r>
            <a:br>
              <a:rPr lang="en-US"/>
            </a:br>
            <a:r>
              <a:rPr lang="en-US"/>
              <a:t>After it loads, say nothing for two seconds, let the room see it. Optional phone moment: have everyone open the URL on their own phone and say when it loads. If something breaks, narrate it, don't fake it. (~13 min)</a:t>
            </a:r>
            <a:endParaRPr/>
          </a:p>
        </p:txBody>
      </p:sp>
      <p:sp>
        <p:nvSpPr>
          <p:cNvPr id="231" name="Google Shape;23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we wrap, I want everyone in this room in the Discord. Not later tonight, right now. Pull out your phone.' Watch the member count tick up and say the numbers out loud.</a:t>
            </a:r>
            <a:br>
              <a:rPr lang="en-US"/>
            </a:br>
            <a:r>
              <a:rPr lang="en-US"/>
              <a:t>After a minute: 'If you've joined, drop a message in #general, say hi, that's your first contribution.' Then cover Event 2 details, and open the floor. Stay after, don't pack up, the best conversations happen in the last ten minutes.</a:t>
            </a:r>
            <a:endParaRPr/>
          </a:p>
        </p:txBody>
      </p:sp>
      <p:sp>
        <p:nvSpPr>
          <p:cNvPr id="253" name="Google Shape;25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2.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21.png"/><Relationship Id="rId8"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home/claude/bg/title.png" id="16" name="Google Shape;16;p3"/>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home/claude/aws_logo_white.png" id="17" name="Google Shape;17;p3"/>
          <p:cNvPicPr preferRelativeResize="0"/>
          <p:nvPr/>
        </p:nvPicPr>
        <p:blipFill rotWithShape="1">
          <a:blip r:embed="rId4">
            <a:alphaModFix/>
          </a:blip>
          <a:srcRect b="0" l="0" r="0" t="0"/>
          <a:stretch/>
        </p:blipFill>
        <p:spPr>
          <a:xfrm>
            <a:off x="640080" y="548640"/>
            <a:ext cx="914400" cy="384048"/>
          </a:xfrm>
          <a:prstGeom prst="rect">
            <a:avLst/>
          </a:prstGeom>
          <a:noFill/>
          <a:ln>
            <a:noFill/>
          </a:ln>
        </p:spPr>
      </p:pic>
      <p:sp>
        <p:nvSpPr>
          <p:cNvPr id="18" name="Google Shape;18;p3"/>
          <p:cNvSpPr/>
          <p:nvPr/>
        </p:nvSpPr>
        <p:spPr>
          <a:xfrm>
            <a:off x="640080" y="2331720"/>
            <a:ext cx="8778240" cy="15544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4000"/>
              <a:buFont typeface="Courier New"/>
              <a:buNone/>
            </a:pPr>
            <a:r>
              <a:rPr b="1" i="0" lang="en-US" sz="4000" u="none" cap="none" strike="noStrike">
                <a:solidFill>
                  <a:srgbClr val="FFFFFF"/>
                </a:solidFill>
                <a:latin typeface="Courier New"/>
                <a:ea typeface="Courier New"/>
                <a:cs typeface="Courier New"/>
                <a:sym typeface="Courier New"/>
              </a:rPr>
              <a:t>AWS Student Builder Groups</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658368" y="3794760"/>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7EA"/>
              </a:buClr>
              <a:buSzPts val="1800"/>
              <a:buFont typeface="Calibri"/>
              <a:buNone/>
            </a:pPr>
            <a:r>
              <a:rPr b="0" i="0" lang="en-US" sz="1800" u="none" cap="none" strike="noStrike">
                <a:solidFill>
                  <a:srgbClr val="FF57EA"/>
                </a:solidFill>
                <a:latin typeface="Calibri"/>
                <a:ea typeface="Calibri"/>
                <a:cs typeface="Calibri"/>
                <a:sym typeface="Calibri"/>
              </a:rPr>
              <a:t>Seneca Polytechnic  |  Event 1: Kickoff</a:t>
            </a:r>
            <a:endParaRPr b="0" i="0" sz="1800" u="none" cap="none" strike="noStrike">
              <a:solidFill>
                <a:schemeClr val="dk1"/>
              </a:solidFill>
              <a:latin typeface="Calibri"/>
              <a:ea typeface="Calibri"/>
              <a:cs typeface="Calibri"/>
              <a:sym typeface="Calibri"/>
            </a:endParaRPr>
          </a:p>
        </p:txBody>
      </p:sp>
      <p:sp>
        <p:nvSpPr>
          <p:cNvPr id="20" name="Google Shape;20;p3"/>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4A3"/>
              </a:buClr>
              <a:buSzPts val="1000"/>
              <a:buFont typeface="Courier New"/>
              <a:buNone/>
            </a:pPr>
            <a:r>
              <a:rPr b="0" i="0" lang="en-US" sz="1000" u="none" cap="none" strike="noStrike">
                <a:solidFill>
                  <a:srgbClr val="8A94A3"/>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pic>
        <p:nvPicPr>
          <p:cNvPr descr="/home/claude/bg/agenda.png" id="26" name="Google Shape;26;p4"/>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home/claude/aws_logo_white.png" id="27" name="Google Shape;27;p4"/>
          <p:cNvPicPr preferRelativeResize="0"/>
          <p:nvPr/>
        </p:nvPicPr>
        <p:blipFill rotWithShape="1">
          <a:blip r:embed="rId4">
            <a:alphaModFix/>
          </a:blip>
          <a:srcRect b="0" l="0" r="0" t="0"/>
          <a:stretch/>
        </p:blipFill>
        <p:spPr>
          <a:xfrm>
            <a:off x="10820095" y="502920"/>
            <a:ext cx="777240" cy="329184"/>
          </a:xfrm>
          <a:prstGeom prst="rect">
            <a:avLst/>
          </a:prstGeom>
          <a:noFill/>
          <a:ln>
            <a:noFill/>
          </a:ln>
        </p:spPr>
      </p:pic>
      <p:sp>
        <p:nvSpPr>
          <p:cNvPr id="28" name="Google Shape;28;p4"/>
          <p:cNvSpPr/>
          <p:nvPr/>
        </p:nvSpPr>
        <p:spPr>
          <a:xfrm>
            <a:off x="640080" y="685800"/>
            <a:ext cx="75895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ourier New"/>
              <a:buNone/>
            </a:pPr>
            <a:r>
              <a:rPr b="1" lang="en-US" sz="3000">
                <a:solidFill>
                  <a:srgbClr val="FFFFFF"/>
                </a:solidFill>
                <a:latin typeface="Courier New"/>
                <a:ea typeface="Courier New"/>
                <a:cs typeface="Courier New"/>
                <a:sym typeface="Courier New"/>
              </a:rPr>
              <a:t>Event Overview</a:t>
            </a:r>
            <a:r>
              <a:rPr b="1" i="0" lang="en-US" sz="3000" u="none" cap="none" strike="noStrike">
                <a:solidFill>
                  <a:srgbClr val="FFFFFF"/>
                </a:solidFill>
                <a:latin typeface="Courier New"/>
                <a:ea typeface="Courier New"/>
                <a:cs typeface="Courier New"/>
                <a:sym typeface="Courier New"/>
              </a:rPr>
              <a:t>.</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658368" y="2148840"/>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D5CFF"/>
              </a:buClr>
              <a:buSzPts val="1600"/>
              <a:buFont typeface="Courier New"/>
              <a:buNone/>
            </a:pPr>
            <a:r>
              <a:rPr b="1" i="0" lang="en-US" sz="1600" u="none" cap="none" strike="noStrike">
                <a:solidFill>
                  <a:srgbClr val="AD5CFF"/>
                </a:solidFill>
                <a:latin typeface="Courier New"/>
                <a:ea typeface="Courier New"/>
                <a:cs typeface="Courier New"/>
                <a:sym typeface="Courier New"/>
              </a:rPr>
              <a:t>01</a:t>
            </a:r>
            <a:endParaRPr b="0" i="0" sz="1600" u="none" cap="none" strike="noStrike">
              <a:solidFill>
                <a:schemeClr val="dk1"/>
              </a:solidFill>
              <a:latin typeface="Calibri"/>
              <a:ea typeface="Calibri"/>
              <a:cs typeface="Calibri"/>
              <a:sym typeface="Calibri"/>
            </a:endParaRPr>
          </a:p>
        </p:txBody>
      </p:sp>
      <p:sp>
        <p:nvSpPr>
          <p:cNvPr id="30" name="Google Shape;30;p4"/>
          <p:cNvSpPr/>
          <p:nvPr/>
        </p:nvSpPr>
        <p:spPr>
          <a:xfrm>
            <a:off x="1234440" y="2148840"/>
            <a:ext cx="67665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What this club is actually about</a:t>
            </a:r>
            <a:endParaRPr b="0" i="0" sz="1500" u="none" cap="none" strike="noStrike">
              <a:solidFill>
                <a:schemeClr val="dk1"/>
              </a:solidFill>
              <a:latin typeface="Calibri"/>
              <a:ea typeface="Calibri"/>
              <a:cs typeface="Calibri"/>
              <a:sym typeface="Calibri"/>
            </a:endParaRPr>
          </a:p>
        </p:txBody>
      </p:sp>
      <p:sp>
        <p:nvSpPr>
          <p:cNvPr id="31" name="Google Shape;31;p4"/>
          <p:cNvSpPr/>
          <p:nvPr/>
        </p:nvSpPr>
        <p:spPr>
          <a:xfrm>
            <a:off x="658368" y="2770632"/>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D5CFF"/>
              </a:buClr>
              <a:buSzPts val="1600"/>
              <a:buFont typeface="Courier New"/>
              <a:buNone/>
            </a:pPr>
            <a:r>
              <a:rPr b="1" i="0" lang="en-US" sz="1600" u="none" cap="none" strike="noStrike">
                <a:solidFill>
                  <a:srgbClr val="AD5CFF"/>
                </a:solidFill>
                <a:latin typeface="Courier New"/>
                <a:ea typeface="Courier New"/>
                <a:cs typeface="Courier New"/>
                <a:sym typeface="Courier New"/>
              </a:rPr>
              <a:t>02</a:t>
            </a:r>
            <a:endParaRPr b="0" i="0" sz="1600" u="none" cap="none" strike="noStrike">
              <a:solidFill>
                <a:schemeClr val="dk1"/>
              </a:solidFill>
              <a:latin typeface="Calibri"/>
              <a:ea typeface="Calibri"/>
              <a:cs typeface="Calibri"/>
              <a:sym typeface="Calibri"/>
            </a:endParaRPr>
          </a:p>
        </p:txBody>
      </p:sp>
      <p:sp>
        <p:nvSpPr>
          <p:cNvPr id="32" name="Google Shape;32;p4"/>
          <p:cNvSpPr/>
          <p:nvPr/>
        </p:nvSpPr>
        <p:spPr>
          <a:xfrm>
            <a:off x="1234440" y="2770632"/>
            <a:ext cx="67665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A live demo, deploying something real, together</a:t>
            </a:r>
            <a:endParaRPr b="0" i="0" sz="1500" u="none" cap="none" strike="noStrike">
              <a:solidFill>
                <a:schemeClr val="dk1"/>
              </a:solidFill>
              <a:latin typeface="Calibri"/>
              <a:ea typeface="Calibri"/>
              <a:cs typeface="Calibri"/>
              <a:sym typeface="Calibri"/>
            </a:endParaRPr>
          </a:p>
        </p:txBody>
      </p:sp>
      <p:sp>
        <p:nvSpPr>
          <p:cNvPr id="33" name="Google Shape;33;p4"/>
          <p:cNvSpPr/>
          <p:nvPr/>
        </p:nvSpPr>
        <p:spPr>
          <a:xfrm>
            <a:off x="658368" y="3392424"/>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D5CFF"/>
              </a:buClr>
              <a:buSzPts val="1600"/>
              <a:buFont typeface="Courier New"/>
              <a:buNone/>
            </a:pPr>
            <a:r>
              <a:rPr b="1" i="0" lang="en-US" sz="1600" u="none" cap="none" strike="noStrike">
                <a:solidFill>
                  <a:srgbClr val="AD5CFF"/>
                </a:solidFill>
                <a:latin typeface="Courier New"/>
                <a:ea typeface="Courier New"/>
                <a:cs typeface="Courier New"/>
                <a:sym typeface="Courier New"/>
              </a:rPr>
              <a:t>03</a:t>
            </a:r>
            <a:endParaRPr b="0" i="0" sz="1600" u="none" cap="none" strike="noStrike">
              <a:solidFill>
                <a:schemeClr val="dk1"/>
              </a:solidFill>
              <a:latin typeface="Calibri"/>
              <a:ea typeface="Calibri"/>
              <a:cs typeface="Calibri"/>
              <a:sym typeface="Calibri"/>
            </a:endParaRPr>
          </a:p>
        </p:txBody>
      </p:sp>
      <p:sp>
        <p:nvSpPr>
          <p:cNvPr id="34" name="Google Shape;34;p4"/>
          <p:cNvSpPr/>
          <p:nvPr/>
        </p:nvSpPr>
        <p:spPr>
          <a:xfrm>
            <a:off x="1234440" y="3392424"/>
            <a:ext cx="67665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How to join the community before you leave</a:t>
            </a:r>
            <a:endParaRPr b="0" i="0" sz="1500" u="none" cap="none" strike="noStrike">
              <a:solidFill>
                <a:schemeClr val="dk1"/>
              </a:solidFill>
              <a:latin typeface="Calibri"/>
              <a:ea typeface="Calibri"/>
              <a:cs typeface="Calibri"/>
              <a:sym typeface="Calibri"/>
            </a:endParaRPr>
          </a:p>
        </p:txBody>
      </p:sp>
      <p:sp>
        <p:nvSpPr>
          <p:cNvPr id="35" name="Google Shape;35;p4"/>
          <p:cNvSpPr/>
          <p:nvPr/>
        </p:nvSpPr>
        <p:spPr>
          <a:xfrm>
            <a:off x="658368" y="4014216"/>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D5CFF"/>
              </a:buClr>
              <a:buSzPts val="1600"/>
              <a:buFont typeface="Courier New"/>
              <a:buNone/>
            </a:pPr>
            <a:r>
              <a:rPr b="1" i="0" lang="en-US" sz="1600" u="none" cap="none" strike="noStrike">
                <a:solidFill>
                  <a:srgbClr val="AD5CFF"/>
                </a:solidFill>
                <a:latin typeface="Courier New"/>
                <a:ea typeface="Courier New"/>
                <a:cs typeface="Courier New"/>
                <a:sym typeface="Courier New"/>
              </a:rPr>
              <a:t>04</a:t>
            </a:r>
            <a:endParaRPr b="0" i="0" sz="1600" u="none" cap="none" strike="noStrike">
              <a:solidFill>
                <a:schemeClr val="dk1"/>
              </a:solidFill>
              <a:latin typeface="Calibri"/>
              <a:ea typeface="Calibri"/>
              <a:cs typeface="Calibri"/>
              <a:sym typeface="Calibri"/>
            </a:endParaRPr>
          </a:p>
        </p:txBody>
      </p:sp>
      <p:sp>
        <p:nvSpPr>
          <p:cNvPr id="36" name="Google Shape;36;p4"/>
          <p:cNvSpPr/>
          <p:nvPr/>
        </p:nvSpPr>
        <p:spPr>
          <a:xfrm>
            <a:off x="1234440" y="4014216"/>
            <a:ext cx="67665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0" i="0" lang="en-US" sz="1500" u="none" cap="none" strike="noStrike">
                <a:solidFill>
                  <a:srgbClr val="FFFFFF"/>
                </a:solidFill>
                <a:latin typeface="Calibri"/>
                <a:ea typeface="Calibri"/>
                <a:cs typeface="Calibri"/>
                <a:sym typeface="Calibri"/>
              </a:rPr>
              <a:t>Quick housekeeping: a one minute feedback form </a:t>
            </a:r>
            <a:endParaRPr b="0" i="0" sz="1500" u="none" cap="none" strike="noStrike">
              <a:solidFill>
                <a:schemeClr val="dk1"/>
              </a:solidFill>
              <a:latin typeface="Calibri"/>
              <a:ea typeface="Calibri"/>
              <a:cs typeface="Calibri"/>
              <a:sym typeface="Calibri"/>
            </a:endParaRPr>
          </a:p>
        </p:txBody>
      </p:sp>
      <p:sp>
        <p:nvSpPr>
          <p:cNvPr id="37" name="Google Shape;37;p4"/>
          <p:cNvSpPr/>
          <p:nvPr/>
        </p:nvSpPr>
        <p:spPr>
          <a:xfrm>
            <a:off x="411480" y="6217920"/>
            <a:ext cx="365760" cy="365760"/>
          </a:xfrm>
          <a:prstGeom prst="roundRect">
            <a:avLst>
              <a:gd fmla="val 20000"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pu_pink.png" id="38" name="Google Shape;38;p4"/>
          <p:cNvPicPr preferRelativeResize="0"/>
          <p:nvPr/>
        </p:nvPicPr>
        <p:blipFill rotWithShape="1">
          <a:blip r:embed="rId5">
            <a:alphaModFix/>
          </a:blip>
          <a:srcRect b="0" l="0" r="0" t="0"/>
          <a:stretch/>
        </p:blipFill>
        <p:spPr>
          <a:xfrm>
            <a:off x="484632" y="6291072"/>
            <a:ext cx="219456" cy="219456"/>
          </a:xfrm>
          <a:prstGeom prst="rect">
            <a:avLst/>
          </a:prstGeom>
          <a:noFill/>
          <a:ln>
            <a:noFill/>
          </a:ln>
        </p:spPr>
      </p:pic>
      <p:sp>
        <p:nvSpPr>
          <p:cNvPr id="39" name="Google Shape;39;p4"/>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4A3"/>
              </a:buClr>
              <a:buSzPts val="1000"/>
              <a:buFont typeface="Courier New"/>
              <a:buNone/>
            </a:pPr>
            <a:r>
              <a:rPr b="0" i="0" lang="en-US" sz="1000" u="none" cap="none" strike="noStrike">
                <a:solidFill>
                  <a:srgbClr val="8A94A3"/>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pic>
        <p:nvPicPr>
          <p:cNvPr descr="/home/claude/bg/light.png" id="45" name="Google Shape;45;p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46" name="Google Shape;46;p5"/>
          <p:cNvSpPr/>
          <p:nvPr/>
        </p:nvSpPr>
        <p:spPr>
          <a:xfrm>
            <a:off x="640080" y="594360"/>
            <a:ext cx="7315200" cy="1188720"/>
          </a:xfrm>
          <a:prstGeom prst="rect">
            <a:avLst/>
          </a:prstGeom>
          <a:noFill/>
          <a:ln>
            <a:noFill/>
          </a:ln>
        </p:spPr>
        <p:txBody>
          <a:bodyPr anchorCtr="0" anchor="ctr" bIns="0" lIns="0" spcFirstLastPara="1" rIns="0" wrap="square" tIns="0">
            <a:noAutofit/>
          </a:bodyPr>
          <a:lstStyle/>
          <a:p>
            <a:pPr indent="0" lvl="0" marL="0" marR="0" rtl="0" algn="l">
              <a:lnSpc>
                <a:spcPct val="111764"/>
              </a:lnSpc>
              <a:spcBef>
                <a:spcPts val="0"/>
              </a:spcBef>
              <a:spcAft>
                <a:spcPts val="0"/>
              </a:spcAft>
              <a:buClr>
                <a:srgbClr val="161D26"/>
              </a:buClr>
              <a:buSzPts val="3400"/>
              <a:buFont typeface="Courier New"/>
              <a:buNone/>
            </a:pPr>
            <a:r>
              <a:rPr b="1" i="0" lang="en-US" sz="3400" u="none" cap="none" strike="noStrike">
                <a:solidFill>
                  <a:srgbClr val="161D26"/>
                </a:solidFill>
                <a:latin typeface="Courier New"/>
                <a:ea typeface="Courier New"/>
                <a:cs typeface="Courier New"/>
                <a:sym typeface="Courier New"/>
              </a:rPr>
              <a:t>Who's in the room?</a:t>
            </a:r>
            <a:endParaRPr b="0" i="0" sz="3400" u="none" cap="none" strike="noStrike">
              <a:solidFill>
                <a:schemeClr val="dk1"/>
              </a:solidFill>
              <a:latin typeface="Calibri"/>
              <a:ea typeface="Calibri"/>
              <a:cs typeface="Calibri"/>
              <a:sym typeface="Calibri"/>
            </a:endParaRPr>
          </a:p>
        </p:txBody>
      </p:sp>
      <p:sp>
        <p:nvSpPr>
          <p:cNvPr id="47" name="Google Shape;47;p5"/>
          <p:cNvSpPr/>
          <p:nvPr/>
        </p:nvSpPr>
        <p:spPr>
          <a:xfrm>
            <a:off x="685800" y="2103120"/>
            <a:ext cx="566928" cy="566928"/>
          </a:xfrm>
          <a:prstGeom prst="roundRect">
            <a:avLst>
              <a:gd fmla="val 19355" name="adj"/>
            </a:avLst>
          </a:prstGeom>
          <a:solidFill>
            <a:srgbClr val="F1E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loud_purple.png" id="48" name="Google Shape;48;p5"/>
          <p:cNvPicPr preferRelativeResize="0"/>
          <p:nvPr/>
        </p:nvPicPr>
        <p:blipFill rotWithShape="1">
          <a:blip r:embed="rId4">
            <a:alphaModFix/>
          </a:blip>
          <a:srcRect b="0" l="0" r="0" t="0"/>
          <a:stretch/>
        </p:blipFill>
        <p:spPr>
          <a:xfrm>
            <a:off x="813816" y="2231136"/>
            <a:ext cx="310896" cy="310896"/>
          </a:xfrm>
          <a:prstGeom prst="rect">
            <a:avLst/>
          </a:prstGeom>
          <a:noFill/>
          <a:ln>
            <a:noFill/>
          </a:ln>
        </p:spPr>
      </p:pic>
      <p:sp>
        <p:nvSpPr>
          <p:cNvPr id="49" name="Google Shape;49;p5"/>
          <p:cNvSpPr/>
          <p:nvPr/>
        </p:nvSpPr>
        <p:spPr>
          <a:xfrm>
            <a:off x="1463040" y="2084832"/>
            <a:ext cx="78638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50"/>
              <a:buFont typeface="Calibri"/>
              <a:buNone/>
            </a:pPr>
            <a:r>
              <a:rPr b="0" i="0" lang="en-US" sz="1550" u="none" cap="none" strike="noStrike">
                <a:solidFill>
                  <a:srgbClr val="161D26"/>
                </a:solidFill>
                <a:latin typeface="Calibri"/>
                <a:ea typeface="Calibri"/>
                <a:cs typeface="Calibri"/>
                <a:sym typeface="Calibri"/>
              </a:rPr>
              <a:t>Used AWS or any cloud platform before</a:t>
            </a:r>
            <a:endParaRPr b="0" i="0" sz="1550" u="none" cap="none" strike="noStrike">
              <a:solidFill>
                <a:schemeClr val="dk1"/>
              </a:solidFill>
              <a:latin typeface="Calibri"/>
              <a:ea typeface="Calibri"/>
              <a:cs typeface="Calibri"/>
              <a:sym typeface="Calibri"/>
            </a:endParaRPr>
          </a:p>
        </p:txBody>
      </p:sp>
      <p:sp>
        <p:nvSpPr>
          <p:cNvPr id="50" name="Google Shape;50;p5"/>
          <p:cNvSpPr/>
          <p:nvPr/>
        </p:nvSpPr>
        <p:spPr>
          <a:xfrm>
            <a:off x="685800" y="2880360"/>
            <a:ext cx="566928" cy="566928"/>
          </a:xfrm>
          <a:prstGeom prst="roundRect">
            <a:avLst>
              <a:gd fmla="val 19355" name="adj"/>
            </a:avLst>
          </a:prstGeom>
          <a:solidFill>
            <a:srgbClr val="F1E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Layers_purple.png" id="51" name="Google Shape;51;p5"/>
          <p:cNvPicPr preferRelativeResize="0"/>
          <p:nvPr/>
        </p:nvPicPr>
        <p:blipFill rotWithShape="1">
          <a:blip r:embed="rId5">
            <a:alphaModFix/>
          </a:blip>
          <a:srcRect b="0" l="0" r="0" t="0"/>
          <a:stretch/>
        </p:blipFill>
        <p:spPr>
          <a:xfrm>
            <a:off x="813816" y="3008376"/>
            <a:ext cx="310896" cy="310896"/>
          </a:xfrm>
          <a:prstGeom prst="rect">
            <a:avLst/>
          </a:prstGeom>
          <a:noFill/>
          <a:ln>
            <a:noFill/>
          </a:ln>
        </p:spPr>
      </p:pic>
      <p:sp>
        <p:nvSpPr>
          <p:cNvPr id="52" name="Google Shape;52;p5"/>
          <p:cNvSpPr/>
          <p:nvPr/>
        </p:nvSpPr>
        <p:spPr>
          <a:xfrm>
            <a:off x="1463040" y="2862072"/>
            <a:ext cx="78638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50"/>
              <a:buFont typeface="Calibri"/>
              <a:buNone/>
            </a:pPr>
            <a:r>
              <a:rPr b="0" i="0" lang="en-US" sz="1550" u="none" cap="none" strike="noStrike">
                <a:solidFill>
                  <a:srgbClr val="161D26"/>
                </a:solidFill>
                <a:latin typeface="Calibri"/>
                <a:ea typeface="Calibri"/>
                <a:cs typeface="Calibri"/>
                <a:sym typeface="Calibri"/>
              </a:rPr>
              <a:t>Heard of AWS, never touched it</a:t>
            </a:r>
            <a:endParaRPr b="0" i="0" sz="1550" u="none" cap="none" strike="noStrike">
              <a:solidFill>
                <a:schemeClr val="dk1"/>
              </a:solidFill>
              <a:latin typeface="Calibri"/>
              <a:ea typeface="Calibri"/>
              <a:cs typeface="Calibri"/>
              <a:sym typeface="Calibri"/>
            </a:endParaRPr>
          </a:p>
        </p:txBody>
      </p:sp>
      <p:sp>
        <p:nvSpPr>
          <p:cNvPr id="53" name="Google Shape;53;p5"/>
          <p:cNvSpPr/>
          <p:nvPr/>
        </p:nvSpPr>
        <p:spPr>
          <a:xfrm>
            <a:off x="685800" y="3657600"/>
            <a:ext cx="566928" cy="566928"/>
          </a:xfrm>
          <a:prstGeom prst="roundRect">
            <a:avLst>
              <a:gd fmla="val 19355" name="adj"/>
            </a:avLst>
          </a:prstGeom>
          <a:solidFill>
            <a:srgbClr val="F1E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purple.png" id="54" name="Google Shape;54;p5"/>
          <p:cNvPicPr preferRelativeResize="0"/>
          <p:nvPr/>
        </p:nvPicPr>
        <p:blipFill rotWithShape="1">
          <a:blip r:embed="rId6">
            <a:alphaModFix/>
          </a:blip>
          <a:srcRect b="0" l="0" r="0" t="0"/>
          <a:stretch/>
        </p:blipFill>
        <p:spPr>
          <a:xfrm>
            <a:off x="813816" y="3785616"/>
            <a:ext cx="310896" cy="310896"/>
          </a:xfrm>
          <a:prstGeom prst="rect">
            <a:avLst/>
          </a:prstGeom>
          <a:noFill/>
          <a:ln>
            <a:noFill/>
          </a:ln>
        </p:spPr>
      </p:pic>
      <p:sp>
        <p:nvSpPr>
          <p:cNvPr id="55" name="Google Shape;55;p5"/>
          <p:cNvSpPr/>
          <p:nvPr/>
        </p:nvSpPr>
        <p:spPr>
          <a:xfrm>
            <a:off x="1463040" y="3639312"/>
            <a:ext cx="7863840"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50"/>
              <a:buFont typeface="Calibri"/>
              <a:buNone/>
            </a:pPr>
            <a:r>
              <a:rPr b="0" i="0" lang="en-US" sz="1550" u="none" cap="none" strike="noStrike">
                <a:solidFill>
                  <a:srgbClr val="161D26"/>
                </a:solidFill>
                <a:latin typeface="Calibri"/>
                <a:ea typeface="Calibri"/>
                <a:cs typeface="Calibri"/>
                <a:sym typeface="Calibri"/>
              </a:rPr>
              <a:t>No idea what this is, just came to see what was going on</a:t>
            </a:r>
            <a:endParaRPr b="0" i="0" sz="1550" u="none" cap="none" strike="noStrike">
              <a:solidFill>
                <a:schemeClr val="dk1"/>
              </a:solidFill>
              <a:latin typeface="Calibri"/>
              <a:ea typeface="Calibri"/>
              <a:cs typeface="Calibri"/>
              <a:sym typeface="Calibri"/>
            </a:endParaRPr>
          </a:p>
        </p:txBody>
      </p:sp>
      <p:sp>
        <p:nvSpPr>
          <p:cNvPr id="56" name="Google Shape;56;p5"/>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descr="/home/claude/bg/light.png" id="62" name="Google Shape;62;p6"/>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63" name="Google Shape;63;p6"/>
          <p:cNvSpPr/>
          <p:nvPr/>
        </p:nvSpPr>
        <p:spPr>
          <a:xfrm>
            <a:off x="640080" y="59436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3000"/>
              <a:buFont typeface="Courier New"/>
              <a:buNone/>
            </a:pPr>
            <a:r>
              <a:rPr b="1" i="0" lang="en-US" sz="3000" u="none" cap="none" strike="noStrike">
                <a:solidFill>
                  <a:srgbClr val="161D26"/>
                </a:solidFill>
                <a:latin typeface="Courier New"/>
                <a:ea typeface="Courier New"/>
                <a:cs typeface="Courier New"/>
                <a:sym typeface="Courier New"/>
              </a:rPr>
              <a:t>Why this club is different.</a:t>
            </a:r>
            <a:endParaRPr b="0" i="0" sz="3000" u="none" cap="none" strike="noStrike">
              <a:solidFill>
                <a:schemeClr val="dk1"/>
              </a:solidFill>
              <a:latin typeface="Calibri"/>
              <a:ea typeface="Calibri"/>
              <a:cs typeface="Calibri"/>
              <a:sym typeface="Calibri"/>
            </a:endParaRPr>
          </a:p>
        </p:txBody>
      </p:sp>
      <p:sp>
        <p:nvSpPr>
          <p:cNvPr id="64" name="Google Shape;64;p6"/>
          <p:cNvSpPr/>
          <p:nvPr/>
        </p:nvSpPr>
        <p:spPr>
          <a:xfrm>
            <a:off x="640080" y="1874520"/>
            <a:ext cx="5120640" cy="3291840"/>
          </a:xfrm>
          <a:prstGeom prst="roundRect">
            <a:avLst>
              <a:gd fmla="val 2778" name="adj"/>
            </a:avLst>
          </a:prstGeom>
          <a:solidFill>
            <a:srgbClr val="F4F4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960120" y="219456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ourier New"/>
              <a:buNone/>
            </a:pPr>
            <a:r>
              <a:rPr b="1" i="0" lang="en-US" sz="1300" u="none" cap="none" strike="noStrike">
                <a:solidFill>
                  <a:srgbClr val="6B7280"/>
                </a:solidFill>
                <a:latin typeface="Courier New"/>
                <a:ea typeface="Courier New"/>
                <a:cs typeface="Courier New"/>
                <a:sym typeface="Courier New"/>
              </a:rPr>
              <a:t>MOST CLUBS</a:t>
            </a:r>
            <a:endParaRPr b="0" i="0" sz="1300" u="none" cap="none" strike="noStrike">
              <a:solidFill>
                <a:schemeClr val="dk1"/>
              </a:solidFill>
              <a:latin typeface="Calibri"/>
              <a:ea typeface="Calibri"/>
              <a:cs typeface="Calibri"/>
              <a:sym typeface="Calibri"/>
            </a:endParaRPr>
          </a:p>
        </p:txBody>
      </p:sp>
      <p:sp>
        <p:nvSpPr>
          <p:cNvPr id="66" name="Google Shape;66;p6"/>
          <p:cNvSpPr/>
          <p:nvPr/>
        </p:nvSpPr>
        <p:spPr>
          <a:xfrm>
            <a:off x="960120" y="2651760"/>
            <a:ext cx="4572000" cy="21945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9AA0AB"/>
              </a:buClr>
              <a:buSzPts val="1800"/>
              <a:buFont typeface="Calibri"/>
              <a:buNone/>
            </a:pPr>
            <a:r>
              <a:rPr b="0" i="0" lang="en-US" sz="1800" u="none" cap="none" strike="noStrike">
                <a:solidFill>
                  <a:srgbClr val="9AA0AB"/>
                </a:solidFill>
                <a:latin typeface="Calibri"/>
                <a:ea typeface="Calibri"/>
                <a:cs typeface="Calibri"/>
                <a:sym typeface="Calibri"/>
              </a:rPr>
              <a:t>Show up.</a:t>
            </a:r>
            <a:br>
              <a:rPr b="0" i="0" lang="en-US" sz="1800" u="none" cap="none" strike="noStrike">
                <a:solidFill>
                  <a:srgbClr val="9AA0AB"/>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AA0AB"/>
              </a:buClr>
              <a:buSzPts val="1800"/>
              <a:buFont typeface="Calibri"/>
              <a:buNone/>
            </a:pPr>
            <a:r>
              <a:rPr b="0" i="0" lang="en-US" sz="1800" u="none" cap="none" strike="noStrike">
                <a:solidFill>
                  <a:srgbClr val="9AA0AB"/>
                </a:solidFill>
                <a:latin typeface="Calibri"/>
                <a:ea typeface="Calibri"/>
                <a:cs typeface="Calibri"/>
                <a:sym typeface="Calibri"/>
              </a:rPr>
              <a:t>Listen.</a:t>
            </a:r>
            <a:br>
              <a:rPr b="0" i="0" lang="en-US" sz="1800" u="none" cap="none" strike="noStrike">
                <a:solidFill>
                  <a:srgbClr val="9AA0AB"/>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AA0AB"/>
              </a:buClr>
              <a:buSzPts val="1800"/>
              <a:buFont typeface="Calibri"/>
              <a:buNone/>
            </a:pPr>
            <a:r>
              <a:rPr b="0" i="0" lang="en-US" sz="1800" u="none" cap="none" strike="noStrike">
                <a:solidFill>
                  <a:srgbClr val="9AA0AB"/>
                </a:solidFill>
                <a:latin typeface="Calibri"/>
                <a:ea typeface="Calibri"/>
                <a:cs typeface="Calibri"/>
                <a:sym typeface="Calibri"/>
              </a:rPr>
              <a:t>Add it to your resume.</a:t>
            </a:r>
            <a:br>
              <a:rPr b="0" i="0" lang="en-US" sz="1800" u="none" cap="none" strike="noStrike">
                <a:solidFill>
                  <a:srgbClr val="9AA0AB"/>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9AA0AB"/>
              </a:buClr>
              <a:buSzPts val="1800"/>
              <a:buFont typeface="Calibri"/>
              <a:buNone/>
            </a:pPr>
            <a:r>
              <a:rPr b="0" i="0" lang="en-US" sz="1800" u="none" cap="none" strike="noStrike">
                <a:solidFill>
                  <a:srgbClr val="9AA0AB"/>
                </a:solidFill>
                <a:latin typeface="Calibri"/>
                <a:ea typeface="Calibri"/>
                <a:cs typeface="Calibri"/>
                <a:sym typeface="Calibri"/>
              </a:rPr>
              <a:t>Forget it by summer.</a:t>
            </a:r>
            <a:endParaRPr b="0" i="0" sz="1800" u="none" cap="none" strike="noStrike">
              <a:solidFill>
                <a:schemeClr val="dk1"/>
              </a:solidFill>
              <a:latin typeface="Calibri"/>
              <a:ea typeface="Calibri"/>
              <a:cs typeface="Calibri"/>
              <a:sym typeface="Calibri"/>
            </a:endParaRPr>
          </a:p>
        </p:txBody>
      </p:sp>
      <p:sp>
        <p:nvSpPr>
          <p:cNvPr id="67" name="Google Shape;67;p6"/>
          <p:cNvSpPr/>
          <p:nvPr/>
        </p:nvSpPr>
        <p:spPr>
          <a:xfrm>
            <a:off x="5989320" y="1874520"/>
            <a:ext cx="5120640" cy="3291840"/>
          </a:xfrm>
          <a:prstGeom prst="roundRect">
            <a:avLst>
              <a:gd fmla="val 2778"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6309360" y="219456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57EA"/>
              </a:buClr>
              <a:buSzPts val="1300"/>
              <a:buFont typeface="Courier New"/>
              <a:buNone/>
            </a:pPr>
            <a:r>
              <a:rPr b="1" i="0" lang="en-US" sz="1300" u="none" cap="none" strike="noStrike">
                <a:solidFill>
                  <a:srgbClr val="FF57EA"/>
                </a:solidFill>
                <a:latin typeface="Courier New"/>
                <a:ea typeface="Courier New"/>
                <a:cs typeface="Courier New"/>
                <a:sym typeface="Courier New"/>
              </a:rPr>
              <a:t>THIS ONE</a:t>
            </a:r>
            <a:endParaRPr b="0" i="0" sz="1300" u="none" cap="none" strike="noStrike">
              <a:solidFill>
                <a:schemeClr val="dk1"/>
              </a:solidFill>
              <a:latin typeface="Calibri"/>
              <a:ea typeface="Calibri"/>
              <a:cs typeface="Calibri"/>
              <a:sym typeface="Calibri"/>
            </a:endParaRPr>
          </a:p>
        </p:txBody>
      </p:sp>
      <p:sp>
        <p:nvSpPr>
          <p:cNvPr id="69" name="Google Shape;69;p6"/>
          <p:cNvSpPr/>
          <p:nvPr/>
        </p:nvSpPr>
        <p:spPr>
          <a:xfrm>
            <a:off x="6309360" y="2651760"/>
            <a:ext cx="4572000" cy="21945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Real skills.</a:t>
            </a:r>
            <a:br>
              <a:rPr b="1" i="0" lang="en-US" sz="2200" u="none" cap="none" strike="noStrike">
                <a:solidFill>
                  <a:srgbClr val="FFFFFF"/>
                </a:solidFill>
                <a:latin typeface="Calibri"/>
                <a:ea typeface="Calibri"/>
                <a:cs typeface="Calibri"/>
                <a:sym typeface="Calibri"/>
              </a:rPr>
            </a:br>
            <a:endParaRPr b="0" i="0" sz="2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Real projects.</a:t>
            </a:r>
            <a:br>
              <a:rPr b="1" i="0" lang="en-US" sz="2200" u="none" cap="none" strike="noStrike">
                <a:solidFill>
                  <a:srgbClr val="FFFFFF"/>
                </a:solidFill>
                <a:latin typeface="Calibri"/>
                <a:ea typeface="Calibri"/>
                <a:cs typeface="Calibri"/>
                <a:sym typeface="Calibri"/>
              </a:rPr>
            </a:br>
            <a:endParaRPr b="0" i="0" sz="22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Real people.</a:t>
            </a:r>
            <a:endParaRPr b="0" i="0" sz="2200" u="none" cap="none" strike="noStrike">
              <a:solidFill>
                <a:schemeClr val="dk1"/>
              </a:solidFill>
              <a:latin typeface="Calibri"/>
              <a:ea typeface="Calibri"/>
              <a:cs typeface="Calibri"/>
              <a:sym typeface="Calibri"/>
            </a:endParaRPr>
          </a:p>
        </p:txBody>
      </p:sp>
      <p:sp>
        <p:nvSpPr>
          <p:cNvPr id="70" name="Google Shape;70;p6"/>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home/claude/bg/purple_solid.png" id="76" name="Google Shape;76;p7"/>
          <p:cNvPicPr preferRelativeResize="0"/>
          <p:nvPr/>
        </p:nvPicPr>
        <p:blipFill rotWithShape="1">
          <a:blip r:embed="rId3">
            <a:alphaModFix/>
          </a:blip>
          <a:srcRect b="0" l="0" r="0" t="0"/>
          <a:stretch/>
        </p:blipFill>
        <p:spPr>
          <a:xfrm>
            <a:off x="0" y="0"/>
            <a:ext cx="12191693" cy="6858000"/>
          </a:xfrm>
          <a:prstGeom prst="rect">
            <a:avLst/>
          </a:prstGeom>
          <a:noFill/>
          <a:ln>
            <a:noFill/>
          </a:ln>
        </p:spPr>
      </p:pic>
      <p:pic>
        <p:nvPicPr>
          <p:cNvPr descr="/home/claude/aws_logo_navy.png" id="77" name="Google Shape;77;p7"/>
          <p:cNvPicPr preferRelativeResize="0"/>
          <p:nvPr/>
        </p:nvPicPr>
        <p:blipFill rotWithShape="1">
          <a:blip r:embed="rId4">
            <a:alphaModFix/>
          </a:blip>
          <a:srcRect b="0" l="0" r="0" t="0"/>
          <a:stretch/>
        </p:blipFill>
        <p:spPr>
          <a:xfrm>
            <a:off x="502920" y="5989320"/>
            <a:ext cx="685800" cy="292608"/>
          </a:xfrm>
          <a:prstGeom prst="rect">
            <a:avLst/>
          </a:prstGeom>
          <a:noFill/>
          <a:ln>
            <a:noFill/>
          </a:ln>
        </p:spPr>
      </p:pic>
      <p:sp>
        <p:nvSpPr>
          <p:cNvPr id="78" name="Google Shape;78;p7"/>
          <p:cNvSpPr/>
          <p:nvPr/>
        </p:nvSpPr>
        <p:spPr>
          <a:xfrm>
            <a:off x="774700" y="118110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200"/>
              <a:buFont typeface="Courier New"/>
              <a:buNone/>
            </a:pPr>
            <a:r>
              <a:rPr b="1" i="0" lang="en-US" sz="2200" u="none" cap="none" strike="noStrike">
                <a:solidFill>
                  <a:srgbClr val="161D26"/>
                </a:solidFill>
                <a:latin typeface="Courier New"/>
                <a:ea typeface="Courier New"/>
                <a:cs typeface="Courier New"/>
                <a:sym typeface="Courier New"/>
              </a:rPr>
              <a:t>WHAT AWS </a:t>
            </a:r>
            <a:r>
              <a:rPr b="1" lang="en-US" sz="2200">
                <a:solidFill>
                  <a:srgbClr val="161D26"/>
                </a:solidFill>
                <a:latin typeface="Courier New"/>
                <a:ea typeface="Courier New"/>
                <a:cs typeface="Courier New"/>
                <a:sym typeface="Courier New"/>
              </a:rPr>
              <a:t>is</a:t>
            </a:r>
            <a:r>
              <a:rPr b="1" i="0" lang="en-US" sz="2200" u="none" cap="none" strike="noStrike">
                <a:solidFill>
                  <a:srgbClr val="161D26"/>
                </a:solidFill>
                <a:latin typeface="Courier New"/>
                <a:ea typeface="Courier New"/>
                <a:cs typeface="Courier New"/>
                <a:sym typeface="Courier New"/>
              </a:rPr>
              <a:t> </a:t>
            </a:r>
            <a:r>
              <a:rPr b="1" lang="en-US" sz="2200">
                <a:solidFill>
                  <a:srgbClr val="161D26"/>
                </a:solidFill>
                <a:latin typeface="Courier New"/>
                <a:ea typeface="Courier New"/>
                <a:cs typeface="Courier New"/>
                <a:sym typeface="Courier New"/>
              </a:rPr>
              <a:t>in simple terms</a:t>
            </a:r>
            <a:endParaRPr b="1" i="0" sz="2200" u="none" cap="none" strike="noStrike">
              <a:solidFill>
                <a:schemeClr val="dk1"/>
              </a:solidFill>
              <a:latin typeface="Calibri"/>
              <a:ea typeface="Calibri"/>
              <a:cs typeface="Calibri"/>
              <a:sym typeface="Calibri"/>
            </a:endParaRPr>
          </a:p>
        </p:txBody>
      </p:sp>
      <p:sp>
        <p:nvSpPr>
          <p:cNvPr id="79" name="Google Shape;79;p7"/>
          <p:cNvSpPr/>
          <p:nvPr/>
        </p:nvSpPr>
        <p:spPr>
          <a:xfrm>
            <a:off x="774700" y="2026580"/>
            <a:ext cx="10058400" cy="1737300"/>
          </a:xfrm>
          <a:prstGeom prst="rect">
            <a:avLst/>
          </a:prstGeom>
          <a:noFill/>
          <a:ln>
            <a:noFill/>
          </a:ln>
        </p:spPr>
        <p:txBody>
          <a:bodyPr anchorCtr="0" anchor="ctr" bIns="0" lIns="0" spcFirstLastPara="1" rIns="0" wrap="square" tIns="0">
            <a:noAutofit/>
          </a:bodyPr>
          <a:lstStyle/>
          <a:p>
            <a:pPr indent="0" lvl="0" marL="0" marR="0" rtl="0" algn="l">
              <a:lnSpc>
                <a:spcPct val="123529"/>
              </a:lnSpc>
              <a:spcBef>
                <a:spcPts val="0"/>
              </a:spcBef>
              <a:spcAft>
                <a:spcPts val="0"/>
              </a:spcAft>
              <a:buClr>
                <a:srgbClr val="161D26"/>
              </a:buClr>
              <a:buSzPts val="3400"/>
              <a:buFont typeface="Courier New"/>
              <a:buNone/>
            </a:pPr>
            <a:r>
              <a:rPr b="1" i="0" lang="en-US" sz="3400" u="none" cap="none" strike="noStrike">
                <a:solidFill>
                  <a:srgbClr val="161D26"/>
                </a:solidFill>
                <a:latin typeface="Courier New"/>
                <a:ea typeface="Courier New"/>
                <a:cs typeface="Courier New"/>
                <a:sym typeface="Courier New"/>
              </a:rPr>
              <a:t>Someone else's computer</a:t>
            </a:r>
            <a:endParaRPr b="0" i="0" sz="3400" u="none" cap="none" strike="noStrike">
              <a:solidFill>
                <a:schemeClr val="dk1"/>
              </a:solidFill>
              <a:latin typeface="Calibri"/>
              <a:ea typeface="Calibri"/>
              <a:cs typeface="Calibri"/>
              <a:sym typeface="Calibri"/>
            </a:endParaRPr>
          </a:p>
          <a:p>
            <a:pPr indent="0" lvl="0" marL="0" marR="0" rtl="0" algn="l">
              <a:lnSpc>
                <a:spcPct val="123529"/>
              </a:lnSpc>
              <a:spcBef>
                <a:spcPts val="0"/>
              </a:spcBef>
              <a:spcAft>
                <a:spcPts val="0"/>
              </a:spcAft>
              <a:buClr>
                <a:srgbClr val="161D26"/>
              </a:buClr>
              <a:buSzPts val="3400"/>
              <a:buFont typeface="Courier New"/>
              <a:buNone/>
            </a:pPr>
            <a:r>
              <a:rPr b="1" i="0" lang="en-US" sz="3400" u="none" cap="none" strike="noStrike">
                <a:solidFill>
                  <a:srgbClr val="161D26"/>
                </a:solidFill>
                <a:latin typeface="Courier New"/>
                <a:ea typeface="Courier New"/>
                <a:cs typeface="Courier New"/>
                <a:sym typeface="Courier New"/>
              </a:rPr>
              <a:t>that you rent.</a:t>
            </a:r>
            <a:endParaRPr b="0" i="0" sz="3400" u="none" cap="none" strike="noStrike">
              <a:solidFill>
                <a:schemeClr val="dk1"/>
              </a:solidFill>
              <a:latin typeface="Calibri"/>
              <a:ea typeface="Calibri"/>
              <a:cs typeface="Calibri"/>
              <a:sym typeface="Calibri"/>
            </a:endParaRPr>
          </a:p>
        </p:txBody>
      </p:sp>
      <p:sp>
        <p:nvSpPr>
          <p:cNvPr id="80" name="Google Shape;80;p7"/>
          <p:cNvSpPr/>
          <p:nvPr/>
        </p:nvSpPr>
        <p:spPr>
          <a:xfrm>
            <a:off x="713232" y="3840480"/>
            <a:ext cx="8686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0057"/>
              </a:buClr>
              <a:buSzPts val="1500"/>
              <a:buFont typeface="Calibri"/>
              <a:buNone/>
            </a:pPr>
            <a:r>
              <a:rPr b="0" i="0" lang="en-US" sz="1500" u="none" cap="none" strike="noStrike">
                <a:solidFill>
                  <a:srgbClr val="2B0057"/>
                </a:solidFill>
                <a:latin typeface="Calibri"/>
                <a:ea typeface="Calibri"/>
                <a:cs typeface="Calibri"/>
                <a:sym typeface="Calibri"/>
              </a:rPr>
              <a:t>AWS is roughly 200 services built on top of that one idea.</a:t>
            </a:r>
            <a:endParaRPr b="0" i="0" sz="1500" u="none" cap="none" strike="noStrike">
              <a:solidFill>
                <a:schemeClr val="dk1"/>
              </a:solidFill>
              <a:latin typeface="Calibri"/>
              <a:ea typeface="Calibri"/>
              <a:cs typeface="Calibri"/>
              <a:sym typeface="Calibri"/>
            </a:endParaRPr>
          </a:p>
        </p:txBody>
      </p:sp>
      <p:sp>
        <p:nvSpPr>
          <p:cNvPr id="81" name="Google Shape;81;p7"/>
          <p:cNvSpPr/>
          <p:nvPr/>
        </p:nvSpPr>
        <p:spPr>
          <a:xfrm>
            <a:off x="11368735" y="36576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0057"/>
              </a:buClr>
              <a:buSzPts val="1000"/>
              <a:buFont typeface="Courier New"/>
              <a:buNone/>
            </a:pPr>
            <a:r>
              <a:rPr b="0" i="0" lang="en-US" sz="1000" u="none" cap="none" strike="noStrike">
                <a:solidFill>
                  <a:srgbClr val="2B0057"/>
                </a:solidFill>
                <a:latin typeface="Courier New"/>
                <a:ea typeface="Courier New"/>
                <a:cs typeface="Courier New"/>
                <a:sym typeface="Courier New"/>
              </a:rPr>
              <a:t>06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descr="/home/claude/bg/light.png" id="87" name="Google Shape;87;p8"/>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88" name="Google Shape;88;p8"/>
          <p:cNvSpPr/>
          <p:nvPr/>
        </p:nvSpPr>
        <p:spPr>
          <a:xfrm>
            <a:off x="640080" y="59436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3000"/>
              <a:buFont typeface="Courier New"/>
              <a:buNone/>
            </a:pPr>
            <a:r>
              <a:rPr b="1" i="0" lang="en-US" sz="3000" u="none" cap="none" strike="noStrike">
                <a:solidFill>
                  <a:srgbClr val="161D26"/>
                </a:solidFill>
                <a:latin typeface="Courier New"/>
                <a:ea typeface="Courier New"/>
                <a:cs typeface="Courier New"/>
                <a:sym typeface="Courier New"/>
              </a:rPr>
              <a:t>Why every company uses it.</a:t>
            </a:r>
            <a:endParaRPr b="0" i="0" sz="3000" u="none" cap="none" strike="noStrike">
              <a:solidFill>
                <a:schemeClr val="dk1"/>
              </a:solidFill>
              <a:latin typeface="Calibri"/>
              <a:ea typeface="Calibri"/>
              <a:cs typeface="Calibri"/>
              <a:sym typeface="Calibri"/>
            </a:endParaRPr>
          </a:p>
        </p:txBody>
      </p:sp>
      <p:sp>
        <p:nvSpPr>
          <p:cNvPr id="89" name="Google Shape;89;p8"/>
          <p:cNvSpPr/>
          <p:nvPr/>
        </p:nvSpPr>
        <p:spPr>
          <a:xfrm>
            <a:off x="685800" y="2148840"/>
            <a:ext cx="3383280" cy="1417320"/>
          </a:xfrm>
          <a:prstGeom prst="roundRect">
            <a:avLst>
              <a:gd fmla="val 6452" name="adj"/>
            </a:avLst>
          </a:prstGeom>
          <a:solidFill>
            <a:srgbClr val="FFF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Zap_orange.png" id="90" name="Google Shape;90;p8"/>
          <p:cNvPicPr preferRelativeResize="0"/>
          <p:nvPr/>
        </p:nvPicPr>
        <p:blipFill rotWithShape="1">
          <a:blip r:embed="rId4">
            <a:alphaModFix/>
          </a:blip>
          <a:srcRect b="0" l="0" r="0" t="0"/>
          <a:stretch/>
        </p:blipFill>
        <p:spPr>
          <a:xfrm>
            <a:off x="941832" y="2404872"/>
            <a:ext cx="384048" cy="384048"/>
          </a:xfrm>
          <a:prstGeom prst="rect">
            <a:avLst/>
          </a:prstGeom>
          <a:noFill/>
          <a:ln>
            <a:noFill/>
          </a:ln>
        </p:spPr>
      </p:pic>
      <p:sp>
        <p:nvSpPr>
          <p:cNvPr id="91" name="Google Shape;91;p8"/>
          <p:cNvSpPr/>
          <p:nvPr/>
        </p:nvSpPr>
        <p:spPr>
          <a:xfrm>
            <a:off x="941832" y="288036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Scale without buying hardware</a:t>
            </a:r>
            <a:endParaRPr b="0" i="0" sz="1450" u="none" cap="none" strike="noStrike">
              <a:solidFill>
                <a:schemeClr val="dk1"/>
              </a:solidFill>
              <a:latin typeface="Calibri"/>
              <a:ea typeface="Calibri"/>
              <a:cs typeface="Calibri"/>
              <a:sym typeface="Calibri"/>
            </a:endParaRPr>
          </a:p>
        </p:txBody>
      </p:sp>
      <p:sp>
        <p:nvSpPr>
          <p:cNvPr id="92" name="Google Shape;92;p8"/>
          <p:cNvSpPr/>
          <p:nvPr/>
        </p:nvSpPr>
        <p:spPr>
          <a:xfrm>
            <a:off x="4297680" y="2148840"/>
            <a:ext cx="3383280" cy="1417320"/>
          </a:xfrm>
          <a:prstGeom prst="roundRect">
            <a:avLst>
              <a:gd fmla="val 6452" name="adj"/>
            </a:avLst>
          </a:prstGeom>
          <a:solidFill>
            <a:srgbClr val="FFF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Database_orange.png" id="93" name="Google Shape;93;p8"/>
          <p:cNvPicPr preferRelativeResize="0"/>
          <p:nvPr/>
        </p:nvPicPr>
        <p:blipFill rotWithShape="1">
          <a:blip r:embed="rId5">
            <a:alphaModFix/>
          </a:blip>
          <a:srcRect b="0" l="0" r="0" t="0"/>
          <a:stretch/>
        </p:blipFill>
        <p:spPr>
          <a:xfrm>
            <a:off x="4553712" y="2404872"/>
            <a:ext cx="384048" cy="384048"/>
          </a:xfrm>
          <a:prstGeom prst="rect">
            <a:avLst/>
          </a:prstGeom>
          <a:noFill/>
          <a:ln>
            <a:noFill/>
          </a:ln>
        </p:spPr>
      </p:pic>
      <p:sp>
        <p:nvSpPr>
          <p:cNvPr id="94" name="Google Shape;94;p8"/>
          <p:cNvSpPr/>
          <p:nvPr/>
        </p:nvSpPr>
        <p:spPr>
          <a:xfrm>
            <a:off x="4553712" y="288036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Pay only for what you use</a:t>
            </a:r>
            <a:endParaRPr b="0" i="0" sz="1450" u="none" cap="none" strike="noStrike">
              <a:solidFill>
                <a:schemeClr val="dk1"/>
              </a:solidFill>
              <a:latin typeface="Calibri"/>
              <a:ea typeface="Calibri"/>
              <a:cs typeface="Calibri"/>
              <a:sym typeface="Calibri"/>
            </a:endParaRPr>
          </a:p>
        </p:txBody>
      </p:sp>
      <p:sp>
        <p:nvSpPr>
          <p:cNvPr id="95" name="Google Shape;95;p8"/>
          <p:cNvSpPr/>
          <p:nvPr/>
        </p:nvSpPr>
        <p:spPr>
          <a:xfrm>
            <a:off x="7909560" y="2148840"/>
            <a:ext cx="3383280" cy="1417320"/>
          </a:xfrm>
          <a:prstGeom prst="roundRect">
            <a:avLst>
              <a:gd fmla="val 6452" name="adj"/>
            </a:avLst>
          </a:prstGeom>
          <a:solidFill>
            <a:srgbClr val="FFF4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lobe_orange.png" id="96" name="Google Shape;96;p8"/>
          <p:cNvPicPr preferRelativeResize="0"/>
          <p:nvPr/>
        </p:nvPicPr>
        <p:blipFill rotWithShape="1">
          <a:blip r:embed="rId6">
            <a:alphaModFix/>
          </a:blip>
          <a:srcRect b="0" l="0" r="0" t="0"/>
          <a:stretch/>
        </p:blipFill>
        <p:spPr>
          <a:xfrm>
            <a:off x="8165592" y="2404872"/>
            <a:ext cx="384048" cy="384048"/>
          </a:xfrm>
          <a:prstGeom prst="rect">
            <a:avLst/>
          </a:prstGeom>
          <a:noFill/>
          <a:ln>
            <a:noFill/>
          </a:ln>
        </p:spPr>
      </p:pic>
      <p:sp>
        <p:nvSpPr>
          <p:cNvPr id="97" name="Google Shape;97;p8"/>
          <p:cNvSpPr/>
          <p:nvPr/>
        </p:nvSpPr>
        <p:spPr>
          <a:xfrm>
            <a:off x="8165592" y="2880360"/>
            <a:ext cx="2926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Global reach in minutes</a:t>
            </a:r>
            <a:endParaRPr b="0" i="0" sz="1450" u="none" cap="none" strike="noStrike">
              <a:solidFill>
                <a:schemeClr val="dk1"/>
              </a:solidFill>
              <a:latin typeface="Calibri"/>
              <a:ea typeface="Calibri"/>
              <a:cs typeface="Calibri"/>
              <a:sym typeface="Calibri"/>
            </a:endParaRPr>
          </a:p>
        </p:txBody>
      </p:sp>
      <p:sp>
        <p:nvSpPr>
          <p:cNvPr id="98" name="Google Shape;98;p8"/>
          <p:cNvSpPr/>
          <p:nvPr/>
        </p:nvSpPr>
        <p:spPr>
          <a:xfrm>
            <a:off x="685800" y="397764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600"/>
              <a:buFont typeface="Calibri"/>
              <a:buNone/>
            </a:pPr>
            <a:r>
              <a:rPr b="1" i="0" lang="en-US" sz="1600" u="none" cap="none" strike="noStrike">
                <a:solidFill>
                  <a:srgbClr val="161D26"/>
                </a:solidFill>
                <a:latin typeface="Calibri"/>
                <a:ea typeface="Calibri"/>
                <a:cs typeface="Calibri"/>
                <a:sym typeface="Calibri"/>
              </a:rPr>
              <a:t>Netflix: 1 million → 15 million simultaneous viewers. Zero new servers.</a:t>
            </a:r>
            <a:endParaRPr b="0" i="0" sz="1600" u="none" cap="none" strike="noStrike">
              <a:solidFill>
                <a:schemeClr val="dk1"/>
              </a:solidFill>
              <a:latin typeface="Calibri"/>
              <a:ea typeface="Calibri"/>
              <a:cs typeface="Calibri"/>
              <a:sym typeface="Calibri"/>
            </a:endParaRPr>
          </a:p>
        </p:txBody>
      </p:sp>
      <p:sp>
        <p:nvSpPr>
          <p:cNvPr id="99" name="Google Shape;99;p8"/>
          <p:cNvSpPr/>
          <p:nvPr/>
        </p:nvSpPr>
        <p:spPr>
          <a:xfrm>
            <a:off x="685800" y="46177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300"/>
              <a:buFont typeface="Courier New"/>
              <a:buNone/>
            </a:pPr>
            <a:r>
              <a:rPr b="1" i="0" lang="en-US" sz="1300" u="none" cap="none" strike="noStrike">
                <a:solidFill>
                  <a:srgbClr val="FF9900"/>
                </a:solidFill>
                <a:latin typeface="Courier New"/>
                <a:ea typeface="Courier New"/>
                <a:cs typeface="Courier New"/>
                <a:sym typeface="Courier New"/>
              </a:rPr>
              <a:t>Netflix   ·   Airbnb   ·   Slack   ·   NASA   ·   Stripe</a:t>
            </a:r>
            <a:endParaRPr b="0" i="0" sz="1300" u="none" cap="none" strike="noStrike">
              <a:solidFill>
                <a:schemeClr val="dk1"/>
              </a:solidFill>
              <a:latin typeface="Calibri"/>
              <a:ea typeface="Calibri"/>
              <a:cs typeface="Calibri"/>
              <a:sym typeface="Calibri"/>
            </a:endParaRPr>
          </a:p>
        </p:txBody>
      </p:sp>
      <p:sp>
        <p:nvSpPr>
          <p:cNvPr id="100" name="Google Shape;100;p8"/>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descr="/home/claude/bg/navy_orange_corner.png" id="106" name="Google Shape;106;p9"/>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07" name="Google Shape;107;p9"/>
          <p:cNvSpPr/>
          <p:nvPr/>
        </p:nvSpPr>
        <p:spPr>
          <a:xfrm>
            <a:off x="640080" y="59436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ourier New"/>
              <a:buNone/>
            </a:pPr>
            <a:r>
              <a:rPr b="1" i="0" lang="en-US" sz="2800" u="none" cap="none" strike="noStrike">
                <a:solidFill>
                  <a:srgbClr val="FFFFFF"/>
                </a:solidFill>
                <a:latin typeface="Courier New"/>
                <a:ea typeface="Courier New"/>
                <a:cs typeface="Courier New"/>
                <a:sym typeface="Courier New"/>
              </a:rPr>
              <a:t>Five services you'll hear everywhere.</a:t>
            </a:r>
            <a:endParaRPr b="0" i="0" sz="2800" u="none" cap="none" strike="noStrike">
              <a:solidFill>
                <a:schemeClr val="dk1"/>
              </a:solidFill>
              <a:latin typeface="Calibri"/>
              <a:ea typeface="Calibri"/>
              <a:cs typeface="Calibri"/>
              <a:sym typeface="Calibri"/>
            </a:endParaRPr>
          </a:p>
        </p:txBody>
      </p:sp>
      <p:sp>
        <p:nvSpPr>
          <p:cNvPr id="108" name="Google Shape;108;p9"/>
          <p:cNvSpPr/>
          <p:nvPr/>
        </p:nvSpPr>
        <p:spPr>
          <a:xfrm>
            <a:off x="685800" y="201168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800"/>
              <a:buFont typeface="Courier New"/>
              <a:buNone/>
            </a:pPr>
            <a:r>
              <a:rPr b="1" i="0" lang="en-US" sz="1800" u="none" cap="none" strike="noStrike">
                <a:solidFill>
                  <a:srgbClr val="FF9900"/>
                </a:solidFill>
                <a:latin typeface="Courier New"/>
                <a:ea typeface="Courier New"/>
                <a:cs typeface="Courier New"/>
                <a:sym typeface="Courier New"/>
              </a:rPr>
              <a:t>EC2</a:t>
            </a:r>
            <a:endParaRPr b="0" i="0" sz="1800" u="none" cap="none" strike="noStrike">
              <a:solidFill>
                <a:schemeClr val="dk1"/>
              </a:solidFill>
              <a:latin typeface="Calibri"/>
              <a:ea typeface="Calibri"/>
              <a:cs typeface="Calibri"/>
              <a:sym typeface="Calibri"/>
            </a:endParaRPr>
          </a:p>
        </p:txBody>
      </p:sp>
      <p:sp>
        <p:nvSpPr>
          <p:cNvPr id="109" name="Google Shape;109;p9"/>
          <p:cNvSpPr/>
          <p:nvPr/>
        </p:nvSpPr>
        <p:spPr>
          <a:xfrm>
            <a:off x="2331720" y="2011680"/>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CE2"/>
              </a:buClr>
              <a:buSzPts val="1450"/>
              <a:buFont typeface="Calibri"/>
              <a:buNone/>
            </a:pPr>
            <a:r>
              <a:rPr b="0" i="0" lang="en-US" sz="1450" u="none" cap="none" strike="noStrike">
                <a:solidFill>
                  <a:srgbClr val="D8DCE2"/>
                </a:solidFill>
                <a:latin typeface="Calibri"/>
                <a:ea typeface="Calibri"/>
                <a:cs typeface="Calibri"/>
                <a:sym typeface="Calibri"/>
              </a:rPr>
              <a:t>Virtual servers, computing power you can spin up and shut down</a:t>
            </a:r>
            <a:endParaRPr b="0" i="0" sz="1450" u="none" cap="none" strike="noStrike">
              <a:solidFill>
                <a:schemeClr val="dk1"/>
              </a:solidFill>
              <a:latin typeface="Calibri"/>
              <a:ea typeface="Calibri"/>
              <a:cs typeface="Calibri"/>
              <a:sym typeface="Calibri"/>
            </a:endParaRPr>
          </a:p>
        </p:txBody>
      </p:sp>
      <p:sp>
        <p:nvSpPr>
          <p:cNvPr id="110" name="Google Shape;110;p9"/>
          <p:cNvSpPr/>
          <p:nvPr/>
        </p:nvSpPr>
        <p:spPr>
          <a:xfrm>
            <a:off x="685800" y="256032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800"/>
              <a:buFont typeface="Courier New"/>
              <a:buNone/>
            </a:pPr>
            <a:r>
              <a:rPr b="1" i="0" lang="en-US" sz="1800" u="none" cap="none" strike="noStrike">
                <a:solidFill>
                  <a:srgbClr val="FF9900"/>
                </a:solidFill>
                <a:latin typeface="Courier New"/>
                <a:ea typeface="Courier New"/>
                <a:cs typeface="Courier New"/>
                <a:sym typeface="Courier New"/>
              </a:rPr>
              <a:t>S3</a:t>
            </a:r>
            <a:endParaRPr b="0" i="0" sz="1800" u="none" cap="none" strike="noStrike">
              <a:solidFill>
                <a:schemeClr val="dk1"/>
              </a:solidFill>
              <a:latin typeface="Calibri"/>
              <a:ea typeface="Calibri"/>
              <a:cs typeface="Calibri"/>
              <a:sym typeface="Calibri"/>
            </a:endParaRPr>
          </a:p>
        </p:txBody>
      </p:sp>
      <p:sp>
        <p:nvSpPr>
          <p:cNvPr id="111" name="Google Shape;111;p9"/>
          <p:cNvSpPr/>
          <p:nvPr/>
        </p:nvSpPr>
        <p:spPr>
          <a:xfrm>
            <a:off x="2331720" y="2560320"/>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CE2"/>
              </a:buClr>
              <a:buSzPts val="1450"/>
              <a:buFont typeface="Calibri"/>
              <a:buNone/>
            </a:pPr>
            <a:r>
              <a:rPr b="0" i="0" lang="en-US" sz="1450" u="none" cap="none" strike="noStrike">
                <a:solidFill>
                  <a:srgbClr val="D8DCE2"/>
                </a:solidFill>
                <a:latin typeface="Calibri"/>
                <a:ea typeface="Calibri"/>
                <a:cs typeface="Calibri"/>
                <a:sym typeface="Calibri"/>
              </a:rPr>
              <a:t>File storage, store anything and access it anywhere</a:t>
            </a:r>
            <a:endParaRPr b="0" i="0" sz="1450" u="none" cap="none" strike="noStrike">
              <a:solidFill>
                <a:schemeClr val="dk1"/>
              </a:solidFill>
              <a:latin typeface="Calibri"/>
              <a:ea typeface="Calibri"/>
              <a:cs typeface="Calibri"/>
              <a:sym typeface="Calibri"/>
            </a:endParaRPr>
          </a:p>
        </p:txBody>
      </p:sp>
      <p:sp>
        <p:nvSpPr>
          <p:cNvPr id="112" name="Google Shape;112;p9"/>
          <p:cNvSpPr/>
          <p:nvPr/>
        </p:nvSpPr>
        <p:spPr>
          <a:xfrm>
            <a:off x="685800" y="310896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800"/>
              <a:buFont typeface="Courier New"/>
              <a:buNone/>
            </a:pPr>
            <a:r>
              <a:rPr b="1" i="0" lang="en-US" sz="1800" u="none" cap="none" strike="noStrike">
                <a:solidFill>
                  <a:srgbClr val="FF9900"/>
                </a:solidFill>
                <a:latin typeface="Courier New"/>
                <a:ea typeface="Courier New"/>
                <a:cs typeface="Courier New"/>
                <a:sym typeface="Courier New"/>
              </a:rPr>
              <a:t>IAM</a:t>
            </a:r>
            <a:endParaRPr b="0" i="0" sz="1800" u="none" cap="none" strike="noStrike">
              <a:solidFill>
                <a:schemeClr val="dk1"/>
              </a:solidFill>
              <a:latin typeface="Calibri"/>
              <a:ea typeface="Calibri"/>
              <a:cs typeface="Calibri"/>
              <a:sym typeface="Calibri"/>
            </a:endParaRPr>
          </a:p>
        </p:txBody>
      </p:sp>
      <p:sp>
        <p:nvSpPr>
          <p:cNvPr id="113" name="Google Shape;113;p9"/>
          <p:cNvSpPr/>
          <p:nvPr/>
        </p:nvSpPr>
        <p:spPr>
          <a:xfrm>
            <a:off x="2331720" y="3108960"/>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CE2"/>
              </a:buClr>
              <a:buSzPts val="1450"/>
              <a:buFont typeface="Calibri"/>
              <a:buNone/>
            </a:pPr>
            <a:r>
              <a:rPr b="0" i="0" lang="en-US" sz="1450" u="none" cap="none" strike="noStrike">
                <a:solidFill>
                  <a:srgbClr val="D8DCE2"/>
                </a:solidFill>
                <a:latin typeface="Calibri"/>
                <a:ea typeface="Calibri"/>
                <a:cs typeface="Calibri"/>
                <a:sym typeface="Calibri"/>
              </a:rPr>
              <a:t>Identity and access, who's allowed to do what</a:t>
            </a:r>
            <a:endParaRPr b="0" i="0" sz="1450" u="none" cap="none" strike="noStrike">
              <a:solidFill>
                <a:schemeClr val="dk1"/>
              </a:solidFill>
              <a:latin typeface="Calibri"/>
              <a:ea typeface="Calibri"/>
              <a:cs typeface="Calibri"/>
              <a:sym typeface="Calibri"/>
            </a:endParaRPr>
          </a:p>
        </p:txBody>
      </p:sp>
      <p:sp>
        <p:nvSpPr>
          <p:cNvPr id="114" name="Google Shape;114;p9"/>
          <p:cNvSpPr/>
          <p:nvPr/>
        </p:nvSpPr>
        <p:spPr>
          <a:xfrm>
            <a:off x="685800" y="365760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800"/>
              <a:buFont typeface="Courier New"/>
              <a:buNone/>
            </a:pPr>
            <a:r>
              <a:rPr b="1" i="0" lang="en-US" sz="1800" u="none" cap="none" strike="noStrike">
                <a:solidFill>
                  <a:srgbClr val="FF9900"/>
                </a:solidFill>
                <a:latin typeface="Courier New"/>
                <a:ea typeface="Courier New"/>
                <a:cs typeface="Courier New"/>
                <a:sym typeface="Courier New"/>
              </a:rPr>
              <a:t>RDS</a:t>
            </a:r>
            <a:endParaRPr b="0" i="0" sz="1800" u="none" cap="none" strike="noStrike">
              <a:solidFill>
                <a:schemeClr val="dk1"/>
              </a:solidFill>
              <a:latin typeface="Calibri"/>
              <a:ea typeface="Calibri"/>
              <a:cs typeface="Calibri"/>
              <a:sym typeface="Calibri"/>
            </a:endParaRPr>
          </a:p>
        </p:txBody>
      </p:sp>
      <p:sp>
        <p:nvSpPr>
          <p:cNvPr id="115" name="Google Shape;115;p9"/>
          <p:cNvSpPr/>
          <p:nvPr/>
        </p:nvSpPr>
        <p:spPr>
          <a:xfrm>
            <a:off x="2331720" y="3657600"/>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CE2"/>
              </a:buClr>
              <a:buSzPts val="1450"/>
              <a:buFont typeface="Calibri"/>
              <a:buNone/>
            </a:pPr>
            <a:r>
              <a:rPr b="0" i="0" lang="en-US" sz="1450" u="none" cap="none" strike="noStrike">
                <a:solidFill>
                  <a:srgbClr val="D8DCE2"/>
                </a:solidFill>
                <a:latin typeface="Calibri"/>
                <a:ea typeface="Calibri"/>
                <a:cs typeface="Calibri"/>
                <a:sym typeface="Calibri"/>
              </a:rPr>
              <a:t>Managed databases without the server admin work</a:t>
            </a:r>
            <a:endParaRPr b="0" i="0" sz="1450" u="none" cap="none" strike="noStrike">
              <a:solidFill>
                <a:schemeClr val="dk1"/>
              </a:solidFill>
              <a:latin typeface="Calibri"/>
              <a:ea typeface="Calibri"/>
              <a:cs typeface="Calibri"/>
              <a:sym typeface="Calibri"/>
            </a:endParaRPr>
          </a:p>
        </p:txBody>
      </p:sp>
      <p:sp>
        <p:nvSpPr>
          <p:cNvPr id="116" name="Google Shape;116;p9"/>
          <p:cNvSpPr/>
          <p:nvPr/>
        </p:nvSpPr>
        <p:spPr>
          <a:xfrm>
            <a:off x="685800" y="4206240"/>
            <a:ext cx="1554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9900"/>
              </a:buClr>
              <a:buSzPts val="1800"/>
              <a:buFont typeface="Courier New"/>
              <a:buNone/>
            </a:pPr>
            <a:r>
              <a:rPr b="1" i="0" lang="en-US" sz="1800" u="none" cap="none" strike="noStrike">
                <a:solidFill>
                  <a:srgbClr val="FF9900"/>
                </a:solidFill>
                <a:latin typeface="Courier New"/>
                <a:ea typeface="Courier New"/>
                <a:cs typeface="Courier New"/>
                <a:sym typeface="Courier New"/>
              </a:rPr>
              <a:t>Lambda</a:t>
            </a:r>
            <a:endParaRPr b="0" i="0" sz="1800" u="none" cap="none" strike="noStrike">
              <a:solidFill>
                <a:schemeClr val="dk1"/>
              </a:solidFill>
              <a:latin typeface="Calibri"/>
              <a:ea typeface="Calibri"/>
              <a:cs typeface="Calibri"/>
              <a:sym typeface="Calibri"/>
            </a:endParaRPr>
          </a:p>
        </p:txBody>
      </p:sp>
      <p:sp>
        <p:nvSpPr>
          <p:cNvPr id="117" name="Google Shape;117;p9"/>
          <p:cNvSpPr/>
          <p:nvPr/>
        </p:nvSpPr>
        <p:spPr>
          <a:xfrm>
            <a:off x="2331720" y="4206240"/>
            <a:ext cx="85953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DCE2"/>
              </a:buClr>
              <a:buSzPts val="1450"/>
              <a:buFont typeface="Calibri"/>
              <a:buNone/>
            </a:pPr>
            <a:r>
              <a:rPr b="0" i="0" lang="en-US" sz="1450" u="none" cap="none" strike="noStrike">
                <a:solidFill>
                  <a:srgbClr val="D8DCE2"/>
                </a:solidFill>
                <a:latin typeface="Calibri"/>
                <a:ea typeface="Calibri"/>
                <a:cs typeface="Calibri"/>
                <a:sym typeface="Calibri"/>
              </a:rPr>
              <a:t>Run code without managing a server at all</a:t>
            </a:r>
            <a:endParaRPr b="0" i="0" sz="1450" u="none" cap="none" strike="noStrike">
              <a:solidFill>
                <a:schemeClr val="dk1"/>
              </a:solidFill>
              <a:latin typeface="Calibri"/>
              <a:ea typeface="Calibri"/>
              <a:cs typeface="Calibri"/>
              <a:sym typeface="Calibri"/>
            </a:endParaRPr>
          </a:p>
        </p:txBody>
      </p:sp>
      <p:sp>
        <p:nvSpPr>
          <p:cNvPr id="118" name="Google Shape;118;p9"/>
          <p:cNvSpPr/>
          <p:nvPr/>
        </p:nvSpPr>
        <p:spPr>
          <a:xfrm>
            <a:off x="411480" y="6217920"/>
            <a:ext cx="365760" cy="365760"/>
          </a:xfrm>
          <a:prstGeom prst="roundRect">
            <a:avLst>
              <a:gd fmla="val 20000"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pu_orange.png" id="119" name="Google Shape;119;p9"/>
          <p:cNvPicPr preferRelativeResize="0"/>
          <p:nvPr/>
        </p:nvPicPr>
        <p:blipFill rotWithShape="1">
          <a:blip r:embed="rId4">
            <a:alphaModFix/>
          </a:blip>
          <a:srcRect b="0" l="0" r="0" t="0"/>
          <a:stretch/>
        </p:blipFill>
        <p:spPr>
          <a:xfrm>
            <a:off x="484632" y="6291072"/>
            <a:ext cx="219456" cy="219456"/>
          </a:xfrm>
          <a:prstGeom prst="rect">
            <a:avLst/>
          </a:prstGeom>
          <a:noFill/>
          <a:ln>
            <a:noFill/>
          </a:ln>
        </p:spPr>
      </p:pic>
      <p:sp>
        <p:nvSpPr>
          <p:cNvPr id="120" name="Google Shape;120;p9"/>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4A3"/>
              </a:buClr>
              <a:buSzPts val="1000"/>
              <a:buFont typeface="Courier New"/>
              <a:buNone/>
            </a:pPr>
            <a:r>
              <a:rPr b="0" i="0" lang="en-US" sz="1000" u="none" cap="none" strike="noStrike">
                <a:solidFill>
                  <a:srgbClr val="8A94A3"/>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descr="/home/claude/bg/light.png" id="126" name="Google Shape;126;p10"/>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27" name="Google Shape;127;p10"/>
          <p:cNvSpPr/>
          <p:nvPr/>
        </p:nvSpPr>
        <p:spPr>
          <a:xfrm>
            <a:off x="640080" y="59436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2800"/>
              <a:buFont typeface="Courier New"/>
              <a:buNone/>
            </a:pPr>
            <a:r>
              <a:rPr b="1" i="0" lang="en-US" sz="2800" u="none" cap="none" strike="noStrike">
                <a:solidFill>
                  <a:srgbClr val="161D26"/>
                </a:solidFill>
                <a:latin typeface="Courier New"/>
                <a:ea typeface="Courier New"/>
                <a:cs typeface="Courier New"/>
                <a:sym typeface="Courier New"/>
              </a:rPr>
              <a:t>What these skills actually get you.</a:t>
            </a:r>
            <a:endParaRPr b="0" i="0" sz="2800" u="none" cap="none" strike="noStrike">
              <a:solidFill>
                <a:schemeClr val="dk1"/>
              </a:solidFill>
              <a:latin typeface="Calibri"/>
              <a:ea typeface="Calibri"/>
              <a:cs typeface="Calibri"/>
              <a:sym typeface="Calibri"/>
            </a:endParaRPr>
          </a:p>
        </p:txBody>
      </p:sp>
      <p:sp>
        <p:nvSpPr>
          <p:cNvPr id="128" name="Google Shape;128;p10"/>
          <p:cNvSpPr/>
          <p:nvPr/>
        </p:nvSpPr>
        <p:spPr>
          <a:xfrm>
            <a:off x="685800" y="1965960"/>
            <a:ext cx="6400800" cy="3520440"/>
          </a:xfrm>
          <a:prstGeom prst="roundRect">
            <a:avLst>
              <a:gd fmla="val 2597" name="adj"/>
            </a:avLst>
          </a:prstGeom>
          <a:solidFill>
            <a:srgbClr val="EE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Briefcase_blue.png" id="129" name="Google Shape;129;p10"/>
          <p:cNvPicPr preferRelativeResize="0"/>
          <p:nvPr/>
        </p:nvPicPr>
        <p:blipFill rotWithShape="1">
          <a:blip r:embed="rId4">
            <a:alphaModFix/>
          </a:blip>
          <a:srcRect b="0" l="0" r="0" t="0"/>
          <a:stretch/>
        </p:blipFill>
        <p:spPr>
          <a:xfrm>
            <a:off x="960120" y="2240280"/>
            <a:ext cx="365760" cy="365760"/>
          </a:xfrm>
          <a:prstGeom prst="rect">
            <a:avLst/>
          </a:prstGeom>
          <a:noFill/>
          <a:ln>
            <a:noFill/>
          </a:ln>
        </p:spPr>
      </p:pic>
      <p:sp>
        <p:nvSpPr>
          <p:cNvPr id="130" name="Google Shape;130;p10"/>
          <p:cNvSpPr/>
          <p:nvPr/>
        </p:nvSpPr>
        <p:spPr>
          <a:xfrm>
            <a:off x="960120" y="2697480"/>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400"/>
              <a:buFont typeface="Calibri"/>
              <a:buNone/>
            </a:pPr>
            <a:r>
              <a:rPr b="1" i="0" lang="en-US" sz="1400" u="none" cap="none" strike="noStrike">
                <a:solidFill>
                  <a:srgbClr val="161D26"/>
                </a:solidFill>
                <a:latin typeface="Calibri"/>
                <a:ea typeface="Calibri"/>
                <a:cs typeface="Calibri"/>
                <a:sym typeface="Calibri"/>
              </a:rPr>
              <a:t>Entry-level cloud and DevOps roles, Toronto</a:t>
            </a:r>
            <a:endParaRPr b="0" i="0" sz="1400" u="none" cap="none" strike="noStrike">
              <a:solidFill>
                <a:schemeClr val="dk1"/>
              </a:solidFill>
              <a:latin typeface="Calibri"/>
              <a:ea typeface="Calibri"/>
              <a:cs typeface="Calibri"/>
              <a:sym typeface="Calibri"/>
            </a:endParaRPr>
          </a:p>
        </p:txBody>
      </p:sp>
      <p:sp>
        <p:nvSpPr>
          <p:cNvPr id="131" name="Google Shape;131;p10"/>
          <p:cNvSpPr/>
          <p:nvPr/>
        </p:nvSpPr>
        <p:spPr>
          <a:xfrm>
            <a:off x="960120" y="3154680"/>
            <a:ext cx="5852160" cy="5486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Almost every posting lists EC2, S3, or general AWS experience.</a:t>
            </a:r>
            <a:endParaRPr b="0" i="0" sz="1400" u="none" cap="none" strike="noStrike">
              <a:solidFill>
                <a:schemeClr val="dk1"/>
              </a:solidFill>
              <a:latin typeface="Calibri"/>
              <a:ea typeface="Calibri"/>
              <a:cs typeface="Calibri"/>
              <a:sym typeface="Calibri"/>
            </a:endParaRPr>
          </a:p>
        </p:txBody>
      </p:sp>
      <p:sp>
        <p:nvSpPr>
          <p:cNvPr id="132" name="Google Shape;132;p10"/>
          <p:cNvSpPr/>
          <p:nvPr/>
        </p:nvSpPr>
        <p:spPr>
          <a:xfrm>
            <a:off x="960120" y="3977640"/>
            <a:ext cx="5852160" cy="8229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1D26"/>
              </a:buClr>
              <a:buSzPts val="1500"/>
              <a:buFont typeface="Calibri"/>
              <a:buNone/>
            </a:pPr>
            <a:r>
              <a:rPr b="1" i="0" lang="en-US" sz="1500" u="none" cap="none" strike="noStrike">
                <a:solidFill>
                  <a:srgbClr val="161D26"/>
                </a:solidFill>
                <a:latin typeface="Calibri"/>
                <a:ea typeface="Calibri"/>
                <a:cs typeface="Calibri"/>
                <a:sym typeface="Calibri"/>
              </a:rPr>
              <a:t>No community to study with? That's what this club </a:t>
            </a:r>
            <a:r>
              <a:rPr b="1" lang="en-US" sz="1500">
                <a:solidFill>
                  <a:srgbClr val="161D26"/>
                </a:solidFill>
                <a:latin typeface="Calibri"/>
                <a:ea typeface="Calibri"/>
                <a:cs typeface="Calibri"/>
                <a:sym typeface="Calibri"/>
              </a:rPr>
              <a:t>is for.</a:t>
            </a:r>
            <a:endParaRPr b="0" i="0" sz="1500" u="none" cap="none" strike="noStrike">
              <a:solidFill>
                <a:schemeClr val="dk1"/>
              </a:solidFill>
              <a:latin typeface="Calibri"/>
              <a:ea typeface="Calibri"/>
              <a:cs typeface="Calibri"/>
              <a:sym typeface="Calibri"/>
            </a:endParaRPr>
          </a:p>
        </p:txBody>
      </p:sp>
      <p:sp>
        <p:nvSpPr>
          <p:cNvPr id="133" name="Google Shape;133;p10"/>
          <p:cNvSpPr/>
          <p:nvPr/>
        </p:nvSpPr>
        <p:spPr>
          <a:xfrm>
            <a:off x="7315200" y="1965960"/>
            <a:ext cx="4160520" cy="3520440"/>
          </a:xfrm>
          <a:prstGeom prst="roundRect">
            <a:avLst>
              <a:gd fmla="val 2597"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p:nvPr/>
        </p:nvSpPr>
        <p:spPr>
          <a:xfrm>
            <a:off x="7589520" y="228600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B4FF"/>
              </a:buClr>
              <a:buSzPts val="1100"/>
              <a:buFont typeface="Courier New"/>
              <a:buNone/>
            </a:pPr>
            <a:r>
              <a:rPr b="1" i="0" lang="en-US" sz="1100" u="none" cap="none" strike="noStrike">
                <a:solidFill>
                  <a:srgbClr val="42B4FF"/>
                </a:solidFill>
                <a:latin typeface="Courier New"/>
                <a:ea typeface="Courier New"/>
                <a:cs typeface="Courier New"/>
                <a:sym typeface="Courier New"/>
              </a:rPr>
              <a:t>AWS CERTIFIED</a:t>
            </a:r>
            <a:endParaRPr b="0" i="0" sz="1100" u="none" cap="none" strike="noStrike">
              <a:solidFill>
                <a:schemeClr val="dk1"/>
              </a:solidFill>
              <a:latin typeface="Calibri"/>
              <a:ea typeface="Calibri"/>
              <a:cs typeface="Calibri"/>
              <a:sym typeface="Calibri"/>
            </a:endParaRPr>
          </a:p>
        </p:txBody>
      </p:sp>
      <p:sp>
        <p:nvSpPr>
          <p:cNvPr id="135" name="Google Shape;135;p10"/>
          <p:cNvSpPr/>
          <p:nvPr/>
        </p:nvSpPr>
        <p:spPr>
          <a:xfrm>
            <a:off x="7589520" y="2606040"/>
            <a:ext cx="3657600" cy="1005840"/>
          </a:xfrm>
          <a:prstGeom prst="rect">
            <a:avLst/>
          </a:prstGeom>
          <a:noFill/>
          <a:ln>
            <a:noFill/>
          </a:ln>
        </p:spPr>
        <p:txBody>
          <a:bodyPr anchorCtr="0" anchor="ctr" bIns="0" lIns="0" spcFirstLastPara="1" rIns="0" wrap="square" tIns="0">
            <a:noAutofit/>
          </a:bodyPr>
          <a:lstStyle/>
          <a:p>
            <a:pPr indent="0" lvl="0" marL="0" marR="0" rtl="0" algn="l">
              <a:lnSpc>
                <a:spcPct val="116666"/>
              </a:lnSpc>
              <a:spcBef>
                <a:spcPts val="0"/>
              </a:spcBef>
              <a:spcAft>
                <a:spcPts val="0"/>
              </a:spcAft>
              <a:buClr>
                <a:srgbClr val="FFFFFF"/>
              </a:buClr>
              <a:buSzPts val="2400"/>
              <a:buFont typeface="Courier New"/>
              <a:buNone/>
            </a:pPr>
            <a:r>
              <a:rPr b="1" i="0" lang="en-US" sz="2400" u="none" cap="none" strike="noStrike">
                <a:solidFill>
                  <a:srgbClr val="FFFFFF"/>
                </a:solidFill>
                <a:latin typeface="Courier New"/>
                <a:ea typeface="Courier New"/>
                <a:cs typeface="Courier New"/>
                <a:sym typeface="Courier New"/>
              </a:rPr>
              <a:t>Cloud</a:t>
            </a:r>
            <a:endParaRPr b="0" i="0" sz="2400" u="none" cap="none" strike="noStrike">
              <a:solidFill>
                <a:schemeClr val="dk1"/>
              </a:solidFill>
              <a:latin typeface="Calibri"/>
              <a:ea typeface="Calibri"/>
              <a:cs typeface="Calibri"/>
              <a:sym typeface="Calibri"/>
            </a:endParaRPr>
          </a:p>
          <a:p>
            <a:pPr indent="0" lvl="0" marL="0" marR="0" rtl="0" algn="l">
              <a:lnSpc>
                <a:spcPct val="116666"/>
              </a:lnSpc>
              <a:spcBef>
                <a:spcPts val="0"/>
              </a:spcBef>
              <a:spcAft>
                <a:spcPts val="0"/>
              </a:spcAft>
              <a:buClr>
                <a:srgbClr val="FFFFFF"/>
              </a:buClr>
              <a:buSzPts val="2400"/>
              <a:buFont typeface="Courier New"/>
              <a:buNone/>
            </a:pPr>
            <a:r>
              <a:rPr b="1" i="0" lang="en-US" sz="2400" u="none" cap="none" strike="noStrike">
                <a:solidFill>
                  <a:srgbClr val="FFFFFF"/>
                </a:solidFill>
                <a:latin typeface="Courier New"/>
                <a:ea typeface="Courier New"/>
                <a:cs typeface="Courier New"/>
                <a:sym typeface="Courier New"/>
              </a:rPr>
              <a:t>Practitioner</a:t>
            </a:r>
            <a:endParaRPr b="0" i="0" sz="2400" u="none" cap="none" strike="noStrike">
              <a:solidFill>
                <a:schemeClr val="dk1"/>
              </a:solidFill>
              <a:latin typeface="Calibri"/>
              <a:ea typeface="Calibri"/>
              <a:cs typeface="Calibri"/>
              <a:sym typeface="Calibri"/>
            </a:endParaRPr>
          </a:p>
        </p:txBody>
      </p:sp>
      <p:sp>
        <p:nvSpPr>
          <p:cNvPr id="136" name="Google Shape;136;p10"/>
          <p:cNvSpPr/>
          <p:nvPr/>
        </p:nvSpPr>
        <p:spPr>
          <a:xfrm>
            <a:off x="7589520" y="3794760"/>
            <a:ext cx="3611880" cy="146304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C7CDD6"/>
              </a:buClr>
              <a:buSzPts val="1250"/>
              <a:buFont typeface="Calibri"/>
              <a:buNone/>
            </a:pPr>
            <a:r>
              <a:rPr b="0" i="0" lang="en-US" sz="1250" u="none" cap="none" strike="noStrike">
                <a:solidFill>
                  <a:srgbClr val="C7CDD6"/>
                </a:solidFill>
                <a:latin typeface="Calibri"/>
                <a:ea typeface="Calibri"/>
                <a:cs typeface="Calibri"/>
                <a:sym typeface="Calibri"/>
              </a:rPr>
              <a:t>The entry-level cert. We walk toward it together across the year, one thread through every session.</a:t>
            </a:r>
            <a:endParaRPr b="0" i="0" sz="1250" u="none" cap="none" strike="noStrike">
              <a:solidFill>
                <a:schemeClr val="dk1"/>
              </a:solidFill>
              <a:latin typeface="Calibri"/>
              <a:ea typeface="Calibri"/>
              <a:cs typeface="Calibri"/>
              <a:sym typeface="Calibri"/>
            </a:endParaRPr>
          </a:p>
        </p:txBody>
      </p:sp>
      <p:sp>
        <p:nvSpPr>
          <p:cNvPr id="137" name="Google Shape;137;p10"/>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home/claude/bg/light.png" id="143" name="Google Shape;143;p11"/>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44" name="Google Shape;144;p11"/>
          <p:cNvSpPr/>
          <p:nvPr/>
        </p:nvSpPr>
        <p:spPr>
          <a:xfrm>
            <a:off x="640080" y="59436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3000"/>
              <a:buFont typeface="Courier New"/>
              <a:buNone/>
            </a:pPr>
            <a:r>
              <a:rPr b="1" i="0" lang="en-US" sz="3000" u="none" cap="none" strike="noStrike">
                <a:solidFill>
                  <a:srgbClr val="161D26"/>
                </a:solidFill>
                <a:latin typeface="Courier New"/>
                <a:ea typeface="Courier New"/>
                <a:cs typeface="Courier New"/>
                <a:sym typeface="Courier New"/>
              </a:rPr>
              <a:t>What this year looks like.</a:t>
            </a:r>
            <a:endParaRPr b="0" i="0" sz="3000" u="none" cap="none" strike="noStrike">
              <a:solidFill>
                <a:schemeClr val="dk1"/>
              </a:solidFill>
              <a:latin typeface="Calibri"/>
              <a:ea typeface="Calibri"/>
              <a:cs typeface="Calibri"/>
              <a:sym typeface="Calibri"/>
            </a:endParaRPr>
          </a:p>
        </p:txBody>
      </p:sp>
      <p:sp>
        <p:nvSpPr>
          <p:cNvPr id="145" name="Google Shape;145;p11"/>
          <p:cNvSpPr/>
          <p:nvPr/>
        </p:nvSpPr>
        <p:spPr>
          <a:xfrm>
            <a:off x="685800" y="2103120"/>
            <a:ext cx="2606040" cy="3383280"/>
          </a:xfrm>
          <a:prstGeom prst="roundRect">
            <a:avLst>
              <a:gd fmla="val 3509"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914400" y="2377440"/>
            <a:ext cx="502920" cy="502920"/>
          </a:xfrm>
          <a:prstGeom prst="roundRect">
            <a:avLst>
              <a:gd fmla="val 18182" name="adj"/>
            </a:avLst>
          </a:prstGeom>
          <a:solidFill>
            <a:srgbClr val="FF5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a:off x="914400" y="2377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Q1</a:t>
            </a:r>
            <a:endParaRPr b="0" i="0" sz="1500" u="none" cap="none" strike="noStrike">
              <a:solidFill>
                <a:schemeClr val="dk1"/>
              </a:solidFill>
              <a:latin typeface="Calibri"/>
              <a:ea typeface="Calibri"/>
              <a:cs typeface="Calibri"/>
              <a:sym typeface="Calibri"/>
            </a:endParaRPr>
          </a:p>
        </p:txBody>
      </p:sp>
      <p:sp>
        <p:nvSpPr>
          <p:cNvPr id="148" name="Google Shape;148;p11"/>
          <p:cNvSpPr/>
          <p:nvPr/>
        </p:nvSpPr>
        <p:spPr>
          <a:xfrm>
            <a:off x="914400" y="3063240"/>
            <a:ext cx="2148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00"/>
              <a:buFont typeface="Calibri"/>
              <a:buNone/>
            </a:pPr>
            <a:r>
              <a:rPr b="1" i="0" lang="en-US" sz="1500" u="none" cap="none" strike="noStrike">
                <a:solidFill>
                  <a:srgbClr val="161D26"/>
                </a:solidFill>
                <a:latin typeface="Calibri"/>
                <a:ea typeface="Calibri"/>
                <a:cs typeface="Calibri"/>
                <a:sym typeface="Calibri"/>
              </a:rPr>
              <a:t>Foundation</a:t>
            </a:r>
            <a:endParaRPr b="0" i="0" sz="1500" u="none" cap="none" strike="noStrike">
              <a:solidFill>
                <a:schemeClr val="dk1"/>
              </a:solidFill>
              <a:latin typeface="Calibri"/>
              <a:ea typeface="Calibri"/>
              <a:cs typeface="Calibri"/>
              <a:sym typeface="Calibri"/>
            </a:endParaRPr>
          </a:p>
        </p:txBody>
      </p:sp>
      <p:sp>
        <p:nvSpPr>
          <p:cNvPr id="149" name="Google Shape;149;p11"/>
          <p:cNvSpPr/>
          <p:nvPr/>
        </p:nvSpPr>
        <p:spPr>
          <a:xfrm>
            <a:off x="914400" y="3520440"/>
            <a:ext cx="214884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Kickoff (tonight), AWS 101 Workshop</a:t>
            </a:r>
            <a:endParaRPr b="0" i="0" sz="1200" u="none" cap="none" strike="noStrike">
              <a:solidFill>
                <a:schemeClr val="dk1"/>
              </a:solidFill>
              <a:latin typeface="Calibri"/>
              <a:ea typeface="Calibri"/>
              <a:cs typeface="Calibri"/>
              <a:sym typeface="Calibri"/>
            </a:endParaRPr>
          </a:p>
        </p:txBody>
      </p:sp>
      <p:sp>
        <p:nvSpPr>
          <p:cNvPr id="150" name="Google Shape;150;p11"/>
          <p:cNvSpPr/>
          <p:nvPr/>
        </p:nvSpPr>
        <p:spPr>
          <a:xfrm>
            <a:off x="3456432" y="2103120"/>
            <a:ext cx="2606040" cy="3383280"/>
          </a:xfrm>
          <a:prstGeom prst="roundRect">
            <a:avLst>
              <a:gd fmla="val 3509"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a:off x="3685032" y="2377440"/>
            <a:ext cx="502920" cy="502920"/>
          </a:xfrm>
          <a:prstGeom prst="roundRect">
            <a:avLst>
              <a:gd fmla="val 18182" name="adj"/>
            </a:avLst>
          </a:prstGeom>
          <a:solidFill>
            <a:srgbClr val="AD5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a:off x="3685032" y="2377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Q2</a:t>
            </a:r>
            <a:endParaRPr b="0" i="0" sz="1500" u="none" cap="none" strike="noStrike">
              <a:solidFill>
                <a:schemeClr val="dk1"/>
              </a:solidFill>
              <a:latin typeface="Calibri"/>
              <a:ea typeface="Calibri"/>
              <a:cs typeface="Calibri"/>
              <a:sym typeface="Calibri"/>
            </a:endParaRPr>
          </a:p>
        </p:txBody>
      </p:sp>
      <p:sp>
        <p:nvSpPr>
          <p:cNvPr id="153" name="Google Shape;153;p11"/>
          <p:cNvSpPr/>
          <p:nvPr/>
        </p:nvSpPr>
        <p:spPr>
          <a:xfrm>
            <a:off x="3685032" y="3063240"/>
            <a:ext cx="2148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00"/>
              <a:buFont typeface="Calibri"/>
              <a:buNone/>
            </a:pPr>
            <a:r>
              <a:rPr b="1" i="0" lang="en-US" sz="1500" u="none" cap="none" strike="noStrike">
                <a:solidFill>
                  <a:srgbClr val="161D26"/>
                </a:solidFill>
                <a:latin typeface="Calibri"/>
                <a:ea typeface="Calibri"/>
                <a:cs typeface="Calibri"/>
                <a:sym typeface="Calibri"/>
              </a:rPr>
              <a:t>Go deeper</a:t>
            </a:r>
            <a:endParaRPr b="0" i="0" sz="1500" u="none" cap="none" strike="noStrike">
              <a:solidFill>
                <a:schemeClr val="dk1"/>
              </a:solidFill>
              <a:latin typeface="Calibri"/>
              <a:ea typeface="Calibri"/>
              <a:cs typeface="Calibri"/>
              <a:sym typeface="Calibri"/>
            </a:endParaRPr>
          </a:p>
        </p:txBody>
      </p:sp>
      <p:sp>
        <p:nvSpPr>
          <p:cNvPr id="154" name="Google Shape;154;p11"/>
          <p:cNvSpPr/>
          <p:nvPr/>
        </p:nvSpPr>
        <p:spPr>
          <a:xfrm>
            <a:off x="3685032" y="3520440"/>
            <a:ext cx="214884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System Design x AWS, Cloud Career Panel</a:t>
            </a:r>
            <a:endParaRPr b="0" i="0" sz="1200" u="none" cap="none" strike="noStrike">
              <a:solidFill>
                <a:schemeClr val="dk1"/>
              </a:solidFill>
              <a:latin typeface="Calibri"/>
              <a:ea typeface="Calibri"/>
              <a:cs typeface="Calibri"/>
              <a:sym typeface="Calibri"/>
            </a:endParaRPr>
          </a:p>
        </p:txBody>
      </p:sp>
      <p:sp>
        <p:nvSpPr>
          <p:cNvPr id="155" name="Google Shape;155;p11"/>
          <p:cNvSpPr/>
          <p:nvPr/>
        </p:nvSpPr>
        <p:spPr>
          <a:xfrm>
            <a:off x="6227064" y="2103120"/>
            <a:ext cx="2606040" cy="3383280"/>
          </a:xfrm>
          <a:prstGeom prst="roundRect">
            <a:avLst>
              <a:gd fmla="val 3509"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a:off x="6455664" y="2377440"/>
            <a:ext cx="502920" cy="502920"/>
          </a:xfrm>
          <a:prstGeom prst="roundRect">
            <a:avLst>
              <a:gd fmla="val 18182" name="adj"/>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a:off x="6455664" y="2377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Q3</a:t>
            </a:r>
            <a:endParaRPr b="0" i="0" sz="1500" u="none" cap="none" strike="noStrike">
              <a:solidFill>
                <a:schemeClr val="dk1"/>
              </a:solidFill>
              <a:latin typeface="Calibri"/>
              <a:ea typeface="Calibri"/>
              <a:cs typeface="Calibri"/>
              <a:sym typeface="Calibri"/>
            </a:endParaRPr>
          </a:p>
        </p:txBody>
      </p:sp>
      <p:sp>
        <p:nvSpPr>
          <p:cNvPr id="158" name="Google Shape;158;p11"/>
          <p:cNvSpPr/>
          <p:nvPr/>
        </p:nvSpPr>
        <p:spPr>
          <a:xfrm>
            <a:off x="6455664" y="3063240"/>
            <a:ext cx="2148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00"/>
              <a:buFont typeface="Calibri"/>
              <a:buNone/>
            </a:pPr>
            <a:r>
              <a:rPr b="1" i="0" lang="en-US" sz="1500" u="none" cap="none" strike="noStrike">
                <a:solidFill>
                  <a:srgbClr val="161D26"/>
                </a:solidFill>
                <a:latin typeface="Calibri"/>
                <a:ea typeface="Calibri"/>
                <a:cs typeface="Calibri"/>
                <a:sym typeface="Calibri"/>
              </a:rPr>
              <a:t>Build</a:t>
            </a:r>
            <a:endParaRPr b="0" i="0" sz="1500" u="none" cap="none" strike="noStrike">
              <a:solidFill>
                <a:schemeClr val="dk1"/>
              </a:solidFill>
              <a:latin typeface="Calibri"/>
              <a:ea typeface="Calibri"/>
              <a:cs typeface="Calibri"/>
              <a:sym typeface="Calibri"/>
            </a:endParaRPr>
          </a:p>
        </p:txBody>
      </p:sp>
      <p:sp>
        <p:nvSpPr>
          <p:cNvPr id="159" name="Google Shape;159;p11"/>
          <p:cNvSpPr/>
          <p:nvPr/>
        </p:nvSpPr>
        <p:spPr>
          <a:xfrm>
            <a:off x="6455664" y="3520440"/>
            <a:ext cx="214884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DevOps + CI/CD, Quiz Night, Hackathon</a:t>
            </a:r>
            <a:endParaRPr b="0" i="0" sz="1200" u="none" cap="none" strike="noStrike">
              <a:solidFill>
                <a:schemeClr val="dk1"/>
              </a:solidFill>
              <a:latin typeface="Calibri"/>
              <a:ea typeface="Calibri"/>
              <a:cs typeface="Calibri"/>
              <a:sym typeface="Calibri"/>
            </a:endParaRPr>
          </a:p>
        </p:txBody>
      </p:sp>
      <p:sp>
        <p:nvSpPr>
          <p:cNvPr id="160" name="Google Shape;160;p11"/>
          <p:cNvSpPr/>
          <p:nvPr/>
        </p:nvSpPr>
        <p:spPr>
          <a:xfrm>
            <a:off x="8997696" y="2103120"/>
            <a:ext cx="2606040" cy="3383280"/>
          </a:xfrm>
          <a:prstGeom prst="roundRect">
            <a:avLst>
              <a:gd fmla="val 3509"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a:off x="9226296" y="2377440"/>
            <a:ext cx="502920" cy="502920"/>
          </a:xfrm>
          <a:prstGeom prst="roundRect">
            <a:avLst>
              <a:gd fmla="val 18182" name="adj"/>
            </a:avLst>
          </a:prstGeom>
          <a:solidFill>
            <a:srgbClr val="42B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a:off x="9226296" y="2377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ourier New"/>
              <a:buNone/>
            </a:pPr>
            <a:r>
              <a:rPr b="1" i="0" lang="en-US" sz="1500" u="none" cap="none" strike="noStrike">
                <a:solidFill>
                  <a:srgbClr val="FFFFFF"/>
                </a:solidFill>
                <a:latin typeface="Courier New"/>
                <a:ea typeface="Courier New"/>
                <a:cs typeface="Courier New"/>
                <a:sym typeface="Courier New"/>
              </a:rPr>
              <a:t>Q4</a:t>
            </a:r>
            <a:endParaRPr b="0" i="0" sz="1500" u="none" cap="none" strike="noStrike">
              <a:solidFill>
                <a:schemeClr val="dk1"/>
              </a:solidFill>
              <a:latin typeface="Calibri"/>
              <a:ea typeface="Calibri"/>
              <a:cs typeface="Calibri"/>
              <a:sym typeface="Calibri"/>
            </a:endParaRPr>
          </a:p>
        </p:txBody>
      </p:sp>
      <p:sp>
        <p:nvSpPr>
          <p:cNvPr id="163" name="Google Shape;163;p11"/>
          <p:cNvSpPr/>
          <p:nvPr/>
        </p:nvSpPr>
        <p:spPr>
          <a:xfrm>
            <a:off x="9226296" y="3063240"/>
            <a:ext cx="2148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1500"/>
              <a:buFont typeface="Calibri"/>
              <a:buNone/>
            </a:pPr>
            <a:r>
              <a:rPr b="1" i="0" lang="en-US" sz="1500" u="none" cap="none" strike="noStrike">
                <a:solidFill>
                  <a:srgbClr val="161D26"/>
                </a:solidFill>
                <a:latin typeface="Calibri"/>
                <a:ea typeface="Calibri"/>
                <a:cs typeface="Calibri"/>
                <a:sym typeface="Calibri"/>
              </a:rPr>
              <a:t>Ship</a:t>
            </a:r>
            <a:endParaRPr b="0" i="0" sz="1500" u="none" cap="none" strike="noStrike">
              <a:solidFill>
                <a:schemeClr val="dk1"/>
              </a:solidFill>
              <a:latin typeface="Calibri"/>
              <a:ea typeface="Calibri"/>
              <a:cs typeface="Calibri"/>
              <a:sym typeface="Calibri"/>
            </a:endParaRPr>
          </a:p>
        </p:txBody>
      </p:sp>
      <p:sp>
        <p:nvSpPr>
          <p:cNvPr id="164" name="Google Shape;164;p11"/>
          <p:cNvSpPr/>
          <p:nvPr/>
        </p:nvSpPr>
        <p:spPr>
          <a:xfrm>
            <a:off x="9226296" y="3520440"/>
            <a:ext cx="2148840" cy="17373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Year wrap and leadership transition</a:t>
            </a:r>
            <a:endParaRPr b="0" i="0" sz="1200" u="none" cap="none" strike="noStrike">
              <a:solidFill>
                <a:schemeClr val="dk1"/>
              </a:solidFill>
              <a:latin typeface="Calibri"/>
              <a:ea typeface="Calibri"/>
              <a:cs typeface="Calibri"/>
              <a:sym typeface="Calibri"/>
            </a:endParaRPr>
          </a:p>
        </p:txBody>
      </p:sp>
      <p:sp>
        <p:nvSpPr>
          <p:cNvPr id="165" name="Google Shape;165;p11"/>
          <p:cNvSpPr/>
          <p:nvPr/>
        </p:nvSpPr>
        <p:spPr>
          <a:xfrm>
            <a:off x="685800" y="5760720"/>
            <a:ext cx="107899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50"/>
              <a:buFont typeface="Calibri"/>
              <a:buNone/>
            </a:pPr>
            <a:r>
              <a:rPr b="0" i="1" lang="en-US" sz="1250" u="none" cap="none" strike="noStrike">
                <a:solidFill>
                  <a:srgbClr val="6B7280"/>
                </a:solidFill>
                <a:latin typeface="Calibri"/>
                <a:ea typeface="Calibri"/>
                <a:cs typeface="Calibri"/>
                <a:sym typeface="Calibri"/>
              </a:rPr>
              <a:t>Hackathon: teams of 3–4, one day, AWS credits provided.</a:t>
            </a:r>
            <a:endParaRPr b="0" i="0" sz="1250" u="none" cap="none" strike="noStrike">
              <a:solidFill>
                <a:schemeClr val="dk1"/>
              </a:solidFill>
              <a:latin typeface="Calibri"/>
              <a:ea typeface="Calibri"/>
              <a:cs typeface="Calibri"/>
              <a:sym typeface="Calibri"/>
            </a:endParaRPr>
          </a:p>
        </p:txBody>
      </p:sp>
      <p:sp>
        <p:nvSpPr>
          <p:cNvPr id="166" name="Google Shape;166;p11"/>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home/claude/bg/light.png" id="172" name="Google Shape;172;p12"/>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173" name="Google Shape;173;p12"/>
          <p:cNvSpPr/>
          <p:nvPr/>
        </p:nvSpPr>
        <p:spPr>
          <a:xfrm>
            <a:off x="640080" y="548640"/>
            <a:ext cx="91440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2800"/>
              <a:buFont typeface="Courier New"/>
              <a:buNone/>
            </a:pPr>
            <a:r>
              <a:rPr b="1" i="0" lang="en-US" sz="2800" u="none" cap="none" strike="noStrike">
                <a:solidFill>
                  <a:srgbClr val="161D26"/>
                </a:solidFill>
                <a:latin typeface="Courier New"/>
                <a:ea typeface="Courier New"/>
                <a:cs typeface="Courier New"/>
                <a:sym typeface="Courier New"/>
              </a:rPr>
              <a:t>What you'll walk away with.</a:t>
            </a:r>
            <a:endParaRPr b="0" i="0" sz="2800" u="none" cap="none" strike="noStrike">
              <a:solidFill>
                <a:schemeClr val="dk1"/>
              </a:solidFill>
              <a:latin typeface="Calibri"/>
              <a:ea typeface="Calibri"/>
              <a:cs typeface="Calibri"/>
              <a:sym typeface="Calibri"/>
            </a:endParaRPr>
          </a:p>
        </p:txBody>
      </p:sp>
      <p:sp>
        <p:nvSpPr>
          <p:cNvPr id="174" name="Google Shape;174;p12"/>
          <p:cNvSpPr/>
          <p:nvPr/>
        </p:nvSpPr>
        <p:spPr>
          <a:xfrm>
            <a:off x="2986888" y="1691640"/>
            <a:ext cx="1993392" cy="2331720"/>
          </a:xfrm>
          <a:prstGeom prst="roundRect">
            <a:avLst>
              <a:gd fmla="val 4587"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
          <p:cNvSpPr/>
          <p:nvPr/>
        </p:nvSpPr>
        <p:spPr>
          <a:xfrm>
            <a:off x="3206344" y="1911096"/>
            <a:ext cx="457200" cy="457200"/>
          </a:xfrm>
          <a:prstGeom prst="roundRect">
            <a:avLst>
              <a:gd fmla="val 20000" name="adj"/>
            </a:avLst>
          </a:prstGeom>
          <a:solidFill>
            <a:srgbClr val="FF5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heckCircle_white.png" id="176" name="Google Shape;176;p12"/>
          <p:cNvPicPr preferRelativeResize="0"/>
          <p:nvPr/>
        </p:nvPicPr>
        <p:blipFill rotWithShape="1">
          <a:blip r:embed="rId4">
            <a:alphaModFix/>
          </a:blip>
          <a:srcRect b="0" l="0" r="0" t="0"/>
          <a:stretch/>
        </p:blipFill>
        <p:spPr>
          <a:xfrm>
            <a:off x="3320644" y="2025396"/>
            <a:ext cx="246888" cy="246888"/>
          </a:xfrm>
          <a:prstGeom prst="rect">
            <a:avLst/>
          </a:prstGeom>
          <a:noFill/>
          <a:ln>
            <a:noFill/>
          </a:ln>
        </p:spPr>
      </p:pic>
      <p:sp>
        <p:nvSpPr>
          <p:cNvPr id="177" name="Google Shape;177;p12"/>
          <p:cNvSpPr/>
          <p:nvPr/>
        </p:nvSpPr>
        <p:spPr>
          <a:xfrm>
            <a:off x="3188056" y="2496312"/>
            <a:ext cx="1591056"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Skills</a:t>
            </a:r>
            <a:endParaRPr b="0" i="0" sz="1450" u="none" cap="none" strike="noStrike">
              <a:solidFill>
                <a:schemeClr val="dk1"/>
              </a:solidFill>
              <a:latin typeface="Calibri"/>
              <a:ea typeface="Calibri"/>
              <a:cs typeface="Calibri"/>
              <a:sym typeface="Calibri"/>
            </a:endParaRPr>
          </a:p>
        </p:txBody>
      </p:sp>
      <p:sp>
        <p:nvSpPr>
          <p:cNvPr id="178" name="Google Shape;178;p12"/>
          <p:cNvSpPr/>
          <p:nvPr/>
        </p:nvSpPr>
        <p:spPr>
          <a:xfrm>
            <a:off x="3188056" y="2825496"/>
            <a:ext cx="1591056" cy="10972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Cloud fundamentals, system design thinking, DevOps, and CI/CD.</a:t>
            </a:r>
            <a:endParaRPr b="0" i="0" sz="1100" u="none" cap="none" strike="noStrike">
              <a:solidFill>
                <a:schemeClr val="dk1"/>
              </a:solidFill>
              <a:latin typeface="Calibri"/>
              <a:ea typeface="Calibri"/>
              <a:cs typeface="Calibri"/>
              <a:sym typeface="Calibri"/>
            </a:endParaRPr>
          </a:p>
        </p:txBody>
      </p:sp>
      <p:sp>
        <p:nvSpPr>
          <p:cNvPr id="179" name="Google Shape;179;p12"/>
          <p:cNvSpPr/>
          <p:nvPr/>
        </p:nvSpPr>
        <p:spPr>
          <a:xfrm>
            <a:off x="5099152" y="1691640"/>
            <a:ext cx="1993392" cy="2331720"/>
          </a:xfrm>
          <a:prstGeom prst="roundRect">
            <a:avLst>
              <a:gd fmla="val 4587"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2"/>
          <p:cNvSpPr/>
          <p:nvPr/>
        </p:nvSpPr>
        <p:spPr>
          <a:xfrm>
            <a:off x="5318608" y="1911096"/>
            <a:ext cx="457200" cy="457200"/>
          </a:xfrm>
          <a:prstGeom prst="roundRect">
            <a:avLst>
              <a:gd fmla="val 20000" name="adj"/>
            </a:avLst>
          </a:prstGeom>
          <a:solidFill>
            <a:srgbClr val="AD5C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Award_white.png" id="181" name="Google Shape;181;p12"/>
          <p:cNvPicPr preferRelativeResize="0"/>
          <p:nvPr/>
        </p:nvPicPr>
        <p:blipFill rotWithShape="1">
          <a:blip r:embed="rId5">
            <a:alphaModFix/>
          </a:blip>
          <a:srcRect b="0" l="0" r="0" t="0"/>
          <a:stretch/>
        </p:blipFill>
        <p:spPr>
          <a:xfrm>
            <a:off x="5432908" y="2025396"/>
            <a:ext cx="246888" cy="246888"/>
          </a:xfrm>
          <a:prstGeom prst="rect">
            <a:avLst/>
          </a:prstGeom>
          <a:noFill/>
          <a:ln>
            <a:noFill/>
          </a:ln>
        </p:spPr>
      </p:pic>
      <p:sp>
        <p:nvSpPr>
          <p:cNvPr id="182" name="Google Shape;182;p12"/>
          <p:cNvSpPr/>
          <p:nvPr/>
        </p:nvSpPr>
        <p:spPr>
          <a:xfrm>
            <a:off x="5300320" y="2496312"/>
            <a:ext cx="1591056"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Credentials</a:t>
            </a:r>
            <a:endParaRPr b="0" i="0" sz="1450" u="none" cap="none" strike="noStrike">
              <a:solidFill>
                <a:schemeClr val="dk1"/>
              </a:solidFill>
              <a:latin typeface="Calibri"/>
              <a:ea typeface="Calibri"/>
              <a:cs typeface="Calibri"/>
              <a:sym typeface="Calibri"/>
            </a:endParaRPr>
          </a:p>
        </p:txBody>
      </p:sp>
      <p:sp>
        <p:nvSpPr>
          <p:cNvPr id="183" name="Google Shape;183;p12"/>
          <p:cNvSpPr/>
          <p:nvPr/>
        </p:nvSpPr>
        <p:spPr>
          <a:xfrm>
            <a:off x="5300320" y="2825496"/>
            <a:ext cx="1591056" cy="10972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A clear path to AWS Cloud Practitioner, plus exam vouchers.</a:t>
            </a:r>
            <a:endParaRPr b="0" i="0" sz="1100" u="none" cap="none" strike="noStrike">
              <a:solidFill>
                <a:schemeClr val="dk1"/>
              </a:solidFill>
              <a:latin typeface="Calibri"/>
              <a:ea typeface="Calibri"/>
              <a:cs typeface="Calibri"/>
              <a:sym typeface="Calibri"/>
            </a:endParaRPr>
          </a:p>
        </p:txBody>
      </p:sp>
      <p:sp>
        <p:nvSpPr>
          <p:cNvPr id="184" name="Google Shape;184;p12"/>
          <p:cNvSpPr/>
          <p:nvPr/>
        </p:nvSpPr>
        <p:spPr>
          <a:xfrm>
            <a:off x="7211416" y="1691640"/>
            <a:ext cx="1993392" cy="2331720"/>
          </a:xfrm>
          <a:prstGeom prst="roundRect">
            <a:avLst>
              <a:gd fmla="val 4587"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2"/>
          <p:cNvSpPr/>
          <p:nvPr/>
        </p:nvSpPr>
        <p:spPr>
          <a:xfrm>
            <a:off x="7430872" y="1911096"/>
            <a:ext cx="457200" cy="457200"/>
          </a:xfrm>
          <a:prstGeom prst="roundRect">
            <a:avLst>
              <a:gd fmla="val 20000" name="adj"/>
            </a:avLst>
          </a:prstGeom>
          <a:solidFill>
            <a:srgbClr val="FF9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Gift_white.png" id="186" name="Google Shape;186;p12"/>
          <p:cNvPicPr preferRelativeResize="0"/>
          <p:nvPr/>
        </p:nvPicPr>
        <p:blipFill rotWithShape="1">
          <a:blip r:embed="rId6">
            <a:alphaModFix/>
          </a:blip>
          <a:srcRect b="0" l="0" r="0" t="0"/>
          <a:stretch/>
        </p:blipFill>
        <p:spPr>
          <a:xfrm>
            <a:off x="7545172" y="2025396"/>
            <a:ext cx="246888" cy="246888"/>
          </a:xfrm>
          <a:prstGeom prst="rect">
            <a:avLst/>
          </a:prstGeom>
          <a:noFill/>
          <a:ln>
            <a:noFill/>
          </a:ln>
        </p:spPr>
      </p:pic>
      <p:sp>
        <p:nvSpPr>
          <p:cNvPr id="187" name="Google Shape;187;p12"/>
          <p:cNvSpPr/>
          <p:nvPr/>
        </p:nvSpPr>
        <p:spPr>
          <a:xfrm>
            <a:off x="7412584" y="2496312"/>
            <a:ext cx="1591056"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Merch</a:t>
            </a:r>
            <a:endParaRPr b="0" i="0" sz="1450" u="none" cap="none" strike="noStrike">
              <a:solidFill>
                <a:schemeClr val="dk1"/>
              </a:solidFill>
              <a:latin typeface="Calibri"/>
              <a:ea typeface="Calibri"/>
              <a:cs typeface="Calibri"/>
              <a:sym typeface="Calibri"/>
            </a:endParaRPr>
          </a:p>
        </p:txBody>
      </p:sp>
      <p:sp>
        <p:nvSpPr>
          <p:cNvPr id="188" name="Google Shape;188;p12"/>
          <p:cNvSpPr/>
          <p:nvPr/>
        </p:nvSpPr>
        <p:spPr>
          <a:xfrm>
            <a:off x="7412584" y="2825496"/>
            <a:ext cx="1591056" cy="10972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Yes, don't worry, you'll get your goodies too.</a:t>
            </a:r>
            <a:endParaRPr b="0" i="0" sz="1100" u="none" cap="none" strike="noStrike">
              <a:solidFill>
                <a:schemeClr val="dk1"/>
              </a:solidFill>
              <a:latin typeface="Calibri"/>
              <a:ea typeface="Calibri"/>
              <a:cs typeface="Calibri"/>
              <a:sym typeface="Calibri"/>
            </a:endParaRPr>
          </a:p>
        </p:txBody>
      </p:sp>
      <p:sp>
        <p:nvSpPr>
          <p:cNvPr id="189" name="Google Shape;189;p12"/>
          <p:cNvSpPr/>
          <p:nvPr/>
        </p:nvSpPr>
        <p:spPr>
          <a:xfrm>
            <a:off x="4043020" y="4160520"/>
            <a:ext cx="1993392" cy="2331720"/>
          </a:xfrm>
          <a:prstGeom prst="roundRect">
            <a:avLst>
              <a:gd fmla="val 4587"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2"/>
          <p:cNvSpPr/>
          <p:nvPr/>
        </p:nvSpPr>
        <p:spPr>
          <a:xfrm>
            <a:off x="4262476" y="4379976"/>
            <a:ext cx="457200" cy="457200"/>
          </a:xfrm>
          <a:prstGeom prst="roundRect">
            <a:avLst>
              <a:gd fmla="val 20000" name="adj"/>
            </a:avLst>
          </a:prstGeom>
          <a:solidFill>
            <a:srgbClr val="42B4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Users_white.png" id="191" name="Google Shape;191;p12"/>
          <p:cNvPicPr preferRelativeResize="0"/>
          <p:nvPr/>
        </p:nvPicPr>
        <p:blipFill rotWithShape="1">
          <a:blip r:embed="rId7">
            <a:alphaModFix/>
          </a:blip>
          <a:srcRect b="0" l="0" r="0" t="0"/>
          <a:stretch/>
        </p:blipFill>
        <p:spPr>
          <a:xfrm>
            <a:off x="4376776" y="4494276"/>
            <a:ext cx="246888" cy="246888"/>
          </a:xfrm>
          <a:prstGeom prst="rect">
            <a:avLst/>
          </a:prstGeom>
          <a:noFill/>
          <a:ln>
            <a:noFill/>
          </a:ln>
        </p:spPr>
      </p:pic>
      <p:sp>
        <p:nvSpPr>
          <p:cNvPr id="192" name="Google Shape;192;p12"/>
          <p:cNvSpPr/>
          <p:nvPr/>
        </p:nvSpPr>
        <p:spPr>
          <a:xfrm>
            <a:off x="4244188" y="4965192"/>
            <a:ext cx="1591056"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Connections</a:t>
            </a:r>
            <a:endParaRPr b="0" i="0" sz="1450" u="none" cap="none" strike="noStrike">
              <a:solidFill>
                <a:schemeClr val="dk1"/>
              </a:solidFill>
              <a:latin typeface="Calibri"/>
              <a:ea typeface="Calibri"/>
              <a:cs typeface="Calibri"/>
              <a:sym typeface="Calibri"/>
            </a:endParaRPr>
          </a:p>
        </p:txBody>
      </p:sp>
      <p:sp>
        <p:nvSpPr>
          <p:cNvPr id="193" name="Google Shape;193;p12"/>
          <p:cNvSpPr/>
          <p:nvPr/>
        </p:nvSpPr>
        <p:spPr>
          <a:xfrm>
            <a:off x="4244188" y="5294376"/>
            <a:ext cx="1591056" cy="10972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Career panel speakers, the GDG network, and this room.</a:t>
            </a:r>
            <a:endParaRPr b="0" i="0" sz="1100" u="none" cap="none" strike="noStrike">
              <a:solidFill>
                <a:schemeClr val="dk1"/>
              </a:solidFill>
              <a:latin typeface="Calibri"/>
              <a:ea typeface="Calibri"/>
              <a:cs typeface="Calibri"/>
              <a:sym typeface="Calibri"/>
            </a:endParaRPr>
          </a:p>
        </p:txBody>
      </p:sp>
      <p:sp>
        <p:nvSpPr>
          <p:cNvPr id="194" name="Google Shape;194;p12"/>
          <p:cNvSpPr/>
          <p:nvPr/>
        </p:nvSpPr>
        <p:spPr>
          <a:xfrm>
            <a:off x="6155284" y="4160520"/>
            <a:ext cx="1993392" cy="2331720"/>
          </a:xfrm>
          <a:prstGeom prst="roundRect">
            <a:avLst>
              <a:gd fmla="val 4587" name="adj"/>
            </a:avLst>
          </a:prstGeom>
          <a:solidFill>
            <a:srgbClr val="F7F7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2"/>
          <p:cNvSpPr/>
          <p:nvPr/>
        </p:nvSpPr>
        <p:spPr>
          <a:xfrm>
            <a:off x="6374740" y="4379976"/>
            <a:ext cx="457200" cy="457200"/>
          </a:xfrm>
          <a:prstGeom prst="roundRect">
            <a:avLst>
              <a:gd fmla="val 20000" name="adj"/>
            </a:avLst>
          </a:prstGeom>
          <a:solidFill>
            <a:srgbClr val="8B5C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ode_white.png" id="196" name="Google Shape;196;p12"/>
          <p:cNvPicPr preferRelativeResize="0"/>
          <p:nvPr/>
        </p:nvPicPr>
        <p:blipFill rotWithShape="1">
          <a:blip r:embed="rId8">
            <a:alphaModFix/>
          </a:blip>
          <a:srcRect b="0" l="0" r="0" t="0"/>
          <a:stretch/>
        </p:blipFill>
        <p:spPr>
          <a:xfrm>
            <a:off x="6489040" y="4494276"/>
            <a:ext cx="246888" cy="246888"/>
          </a:xfrm>
          <a:prstGeom prst="rect">
            <a:avLst/>
          </a:prstGeom>
          <a:noFill/>
          <a:ln>
            <a:noFill/>
          </a:ln>
        </p:spPr>
      </p:pic>
      <p:sp>
        <p:nvSpPr>
          <p:cNvPr id="197" name="Google Shape;197;p12"/>
          <p:cNvSpPr/>
          <p:nvPr/>
        </p:nvSpPr>
        <p:spPr>
          <a:xfrm>
            <a:off x="6356452" y="4965192"/>
            <a:ext cx="1591056"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61D26"/>
              </a:buClr>
              <a:buSzPts val="1450"/>
              <a:buFont typeface="Calibri"/>
              <a:buNone/>
            </a:pPr>
            <a:r>
              <a:rPr b="1" i="0" lang="en-US" sz="1450" u="none" cap="none" strike="noStrike">
                <a:solidFill>
                  <a:srgbClr val="161D26"/>
                </a:solidFill>
                <a:latin typeface="Calibri"/>
                <a:ea typeface="Calibri"/>
                <a:cs typeface="Calibri"/>
                <a:sym typeface="Calibri"/>
              </a:rPr>
              <a:t>Projects</a:t>
            </a:r>
            <a:endParaRPr b="0" i="0" sz="1450" u="none" cap="none" strike="noStrike">
              <a:solidFill>
                <a:schemeClr val="dk1"/>
              </a:solidFill>
              <a:latin typeface="Calibri"/>
              <a:ea typeface="Calibri"/>
              <a:cs typeface="Calibri"/>
              <a:sym typeface="Calibri"/>
            </a:endParaRPr>
          </a:p>
        </p:txBody>
      </p:sp>
      <p:sp>
        <p:nvSpPr>
          <p:cNvPr id="198" name="Google Shape;198;p12"/>
          <p:cNvSpPr/>
          <p:nvPr/>
        </p:nvSpPr>
        <p:spPr>
          <a:xfrm>
            <a:off x="6356452" y="5294376"/>
            <a:ext cx="1591056" cy="10972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Real deployments and a hackathon submission for your resume.</a:t>
            </a:r>
            <a:endParaRPr b="0" i="0" sz="1100" u="none" cap="none" strike="noStrike">
              <a:solidFill>
                <a:schemeClr val="dk1"/>
              </a:solidFill>
              <a:latin typeface="Calibri"/>
              <a:ea typeface="Calibri"/>
              <a:cs typeface="Calibri"/>
              <a:sym typeface="Calibri"/>
            </a:endParaRPr>
          </a:p>
        </p:txBody>
      </p:sp>
      <p:sp>
        <p:nvSpPr>
          <p:cNvPr id="199" name="Google Shape;199;p12"/>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280"/>
              </a:buClr>
              <a:buSzPts val="1000"/>
              <a:buFont typeface="Courier New"/>
              <a:buNone/>
            </a:pPr>
            <a:r>
              <a:rPr b="0" i="0" lang="en-US" sz="1000" u="none" cap="none" strike="noStrike">
                <a:solidFill>
                  <a:srgbClr val="6B7280"/>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home/claude/bg/navy_pink_corner.png" id="205" name="Google Shape;205;p13"/>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06" name="Google Shape;206;p13"/>
          <p:cNvSpPr/>
          <p:nvPr/>
        </p:nvSpPr>
        <p:spPr>
          <a:xfrm>
            <a:off x="640080" y="59436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ourier New"/>
              <a:buNone/>
            </a:pPr>
            <a:r>
              <a:rPr b="1" i="0" lang="en-US" sz="3000" u="none" cap="none" strike="noStrike">
                <a:solidFill>
                  <a:srgbClr val="FFFFFF"/>
                </a:solidFill>
                <a:latin typeface="Courier New"/>
                <a:ea typeface="Courier New"/>
                <a:cs typeface="Courier New"/>
                <a:sym typeface="Courier New"/>
              </a:rPr>
              <a:t>Culture</a:t>
            </a:r>
            <a:endParaRPr b="0" i="0" sz="3000" u="none" cap="none" strike="noStrike">
              <a:solidFill>
                <a:schemeClr val="dk1"/>
              </a:solidFill>
              <a:latin typeface="Calibri"/>
              <a:ea typeface="Calibri"/>
              <a:cs typeface="Calibri"/>
              <a:sym typeface="Calibri"/>
            </a:endParaRPr>
          </a:p>
        </p:txBody>
      </p:sp>
      <p:sp>
        <p:nvSpPr>
          <p:cNvPr id="207" name="Google Shape;207;p13"/>
          <p:cNvSpPr/>
          <p:nvPr/>
        </p:nvSpPr>
        <p:spPr>
          <a:xfrm>
            <a:off x="685800" y="2148840"/>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57EA"/>
              </a:buClr>
              <a:buSzPts val="1600"/>
              <a:buFont typeface="Courier New"/>
              <a:buNone/>
            </a:pPr>
            <a:r>
              <a:rPr b="1" i="0" lang="en-US" sz="1600" u="none" cap="none" strike="noStrike">
                <a:solidFill>
                  <a:srgbClr val="FF57EA"/>
                </a:solidFill>
                <a:latin typeface="Courier New"/>
                <a:ea typeface="Courier New"/>
                <a:cs typeface="Courier New"/>
                <a:sym typeface="Courier New"/>
              </a:rPr>
              <a:t>01</a:t>
            </a:r>
            <a:endParaRPr b="0" i="0" sz="1600" u="none" cap="none" strike="noStrike">
              <a:solidFill>
                <a:schemeClr val="dk1"/>
              </a:solidFill>
              <a:latin typeface="Calibri"/>
              <a:ea typeface="Calibri"/>
              <a:cs typeface="Calibri"/>
              <a:sym typeface="Calibri"/>
            </a:endParaRPr>
          </a:p>
        </p:txBody>
      </p:sp>
      <p:sp>
        <p:nvSpPr>
          <p:cNvPr id="208" name="Google Shape;208;p13"/>
          <p:cNvSpPr/>
          <p:nvPr/>
        </p:nvSpPr>
        <p:spPr>
          <a:xfrm>
            <a:off x="1280160" y="2148840"/>
            <a:ext cx="8686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0" i="0" lang="en-US" sz="1650" u="none" cap="none" strike="noStrike">
                <a:solidFill>
                  <a:srgbClr val="FFFFFF"/>
                </a:solidFill>
                <a:latin typeface="Calibri"/>
                <a:ea typeface="Calibri"/>
                <a:cs typeface="Calibri"/>
                <a:sym typeface="Calibri"/>
              </a:rPr>
              <a:t>Contribution over attendance</a:t>
            </a:r>
            <a:endParaRPr b="0" i="0" sz="1650" u="none" cap="none" strike="noStrike">
              <a:solidFill>
                <a:schemeClr val="dk1"/>
              </a:solidFill>
              <a:latin typeface="Calibri"/>
              <a:ea typeface="Calibri"/>
              <a:cs typeface="Calibri"/>
              <a:sym typeface="Calibri"/>
            </a:endParaRPr>
          </a:p>
        </p:txBody>
      </p:sp>
      <p:sp>
        <p:nvSpPr>
          <p:cNvPr id="209" name="Google Shape;209;p13"/>
          <p:cNvSpPr/>
          <p:nvPr/>
        </p:nvSpPr>
        <p:spPr>
          <a:xfrm>
            <a:off x="685800" y="2807208"/>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57EA"/>
              </a:buClr>
              <a:buSzPts val="1600"/>
              <a:buFont typeface="Courier New"/>
              <a:buNone/>
            </a:pPr>
            <a:r>
              <a:rPr b="1" i="0" lang="en-US" sz="1600" u="none" cap="none" strike="noStrike">
                <a:solidFill>
                  <a:srgbClr val="FF57EA"/>
                </a:solidFill>
                <a:latin typeface="Courier New"/>
                <a:ea typeface="Courier New"/>
                <a:cs typeface="Courier New"/>
                <a:sym typeface="Courier New"/>
              </a:rPr>
              <a:t>02</a:t>
            </a:r>
            <a:endParaRPr b="0" i="0" sz="1600" u="none" cap="none" strike="noStrike">
              <a:solidFill>
                <a:schemeClr val="dk1"/>
              </a:solidFill>
              <a:latin typeface="Calibri"/>
              <a:ea typeface="Calibri"/>
              <a:cs typeface="Calibri"/>
              <a:sym typeface="Calibri"/>
            </a:endParaRPr>
          </a:p>
        </p:txBody>
      </p:sp>
      <p:sp>
        <p:nvSpPr>
          <p:cNvPr id="210" name="Google Shape;210;p13"/>
          <p:cNvSpPr/>
          <p:nvPr/>
        </p:nvSpPr>
        <p:spPr>
          <a:xfrm>
            <a:off x="1280160" y="2807208"/>
            <a:ext cx="8686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0" i="0" lang="en-US" sz="1650" u="none" cap="none" strike="noStrike">
                <a:solidFill>
                  <a:srgbClr val="FFFFFF"/>
                </a:solidFill>
                <a:latin typeface="Calibri"/>
                <a:ea typeface="Calibri"/>
                <a:cs typeface="Calibri"/>
                <a:sym typeface="Calibri"/>
              </a:rPr>
              <a:t>Engineers teaching engineers</a:t>
            </a:r>
            <a:endParaRPr b="0" i="0" sz="1650" u="none" cap="none" strike="noStrike">
              <a:solidFill>
                <a:schemeClr val="dk1"/>
              </a:solidFill>
              <a:latin typeface="Calibri"/>
              <a:ea typeface="Calibri"/>
              <a:cs typeface="Calibri"/>
              <a:sym typeface="Calibri"/>
            </a:endParaRPr>
          </a:p>
        </p:txBody>
      </p:sp>
      <p:sp>
        <p:nvSpPr>
          <p:cNvPr id="211" name="Google Shape;211;p13"/>
          <p:cNvSpPr/>
          <p:nvPr/>
        </p:nvSpPr>
        <p:spPr>
          <a:xfrm>
            <a:off x="685800" y="3465576"/>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57EA"/>
              </a:buClr>
              <a:buSzPts val="1600"/>
              <a:buFont typeface="Courier New"/>
              <a:buNone/>
            </a:pPr>
            <a:r>
              <a:rPr b="1" i="0" lang="en-US" sz="1600" u="none" cap="none" strike="noStrike">
                <a:solidFill>
                  <a:srgbClr val="FF57EA"/>
                </a:solidFill>
                <a:latin typeface="Courier New"/>
                <a:ea typeface="Courier New"/>
                <a:cs typeface="Courier New"/>
                <a:sym typeface="Courier New"/>
              </a:rPr>
              <a:t>03</a:t>
            </a:r>
            <a:endParaRPr b="0" i="0" sz="1600" u="none" cap="none" strike="noStrike">
              <a:solidFill>
                <a:schemeClr val="dk1"/>
              </a:solidFill>
              <a:latin typeface="Calibri"/>
              <a:ea typeface="Calibri"/>
              <a:cs typeface="Calibri"/>
              <a:sym typeface="Calibri"/>
            </a:endParaRPr>
          </a:p>
        </p:txBody>
      </p:sp>
      <p:sp>
        <p:nvSpPr>
          <p:cNvPr id="212" name="Google Shape;212;p13"/>
          <p:cNvSpPr/>
          <p:nvPr/>
        </p:nvSpPr>
        <p:spPr>
          <a:xfrm>
            <a:off x="1280160" y="3465576"/>
            <a:ext cx="8686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0" i="0" lang="en-US" sz="1650" u="none" cap="none" strike="noStrike">
                <a:solidFill>
                  <a:srgbClr val="FFFFFF"/>
                </a:solidFill>
                <a:latin typeface="Calibri"/>
                <a:ea typeface="Calibri"/>
                <a:cs typeface="Calibri"/>
                <a:sym typeface="Calibri"/>
              </a:rPr>
              <a:t>No gatekeeping. Curiosity is the only credential</a:t>
            </a:r>
            <a:endParaRPr b="0" i="0" sz="1650" u="none" cap="none" strike="noStrike">
              <a:solidFill>
                <a:schemeClr val="dk1"/>
              </a:solidFill>
              <a:latin typeface="Calibri"/>
              <a:ea typeface="Calibri"/>
              <a:cs typeface="Calibri"/>
              <a:sym typeface="Calibri"/>
            </a:endParaRPr>
          </a:p>
        </p:txBody>
      </p:sp>
      <p:sp>
        <p:nvSpPr>
          <p:cNvPr id="213" name="Google Shape;213;p13"/>
          <p:cNvSpPr/>
          <p:nvPr/>
        </p:nvSpPr>
        <p:spPr>
          <a:xfrm>
            <a:off x="685800" y="4123944"/>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57EA"/>
              </a:buClr>
              <a:buSzPts val="1600"/>
              <a:buFont typeface="Courier New"/>
              <a:buNone/>
            </a:pPr>
            <a:r>
              <a:rPr b="1" i="0" lang="en-US" sz="1600" u="none" cap="none" strike="noStrike">
                <a:solidFill>
                  <a:srgbClr val="FF57EA"/>
                </a:solidFill>
                <a:latin typeface="Courier New"/>
                <a:ea typeface="Courier New"/>
                <a:cs typeface="Courier New"/>
                <a:sym typeface="Courier New"/>
              </a:rPr>
              <a:t>04</a:t>
            </a:r>
            <a:endParaRPr b="0" i="0" sz="1600" u="none" cap="none" strike="noStrike">
              <a:solidFill>
                <a:schemeClr val="dk1"/>
              </a:solidFill>
              <a:latin typeface="Calibri"/>
              <a:ea typeface="Calibri"/>
              <a:cs typeface="Calibri"/>
              <a:sym typeface="Calibri"/>
            </a:endParaRPr>
          </a:p>
        </p:txBody>
      </p:sp>
      <p:sp>
        <p:nvSpPr>
          <p:cNvPr id="214" name="Google Shape;214;p13"/>
          <p:cNvSpPr/>
          <p:nvPr/>
        </p:nvSpPr>
        <p:spPr>
          <a:xfrm>
            <a:off x="1280160" y="4123944"/>
            <a:ext cx="8686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0" i="0" lang="en-US" sz="1650" u="none" cap="none" strike="noStrike">
                <a:solidFill>
                  <a:srgbClr val="FFFFFF"/>
                </a:solidFill>
                <a:latin typeface="Calibri"/>
                <a:ea typeface="Calibri"/>
                <a:cs typeface="Calibri"/>
                <a:sym typeface="Calibri"/>
              </a:rPr>
              <a:t>Ideas from anyone, not just exec</a:t>
            </a:r>
            <a:endParaRPr b="0" i="0" sz="1650" u="none" cap="none" strike="noStrike">
              <a:solidFill>
                <a:schemeClr val="dk1"/>
              </a:solidFill>
              <a:latin typeface="Calibri"/>
              <a:ea typeface="Calibri"/>
              <a:cs typeface="Calibri"/>
              <a:sym typeface="Calibri"/>
            </a:endParaRPr>
          </a:p>
        </p:txBody>
      </p:sp>
      <p:sp>
        <p:nvSpPr>
          <p:cNvPr id="215" name="Google Shape;215;p13"/>
          <p:cNvSpPr/>
          <p:nvPr/>
        </p:nvSpPr>
        <p:spPr>
          <a:xfrm>
            <a:off x="685800" y="4782312"/>
            <a:ext cx="54864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57EA"/>
              </a:buClr>
              <a:buSzPts val="1600"/>
              <a:buFont typeface="Courier New"/>
              <a:buNone/>
            </a:pPr>
            <a:r>
              <a:rPr b="1" i="0" lang="en-US" sz="1600" u="none" cap="none" strike="noStrike">
                <a:solidFill>
                  <a:srgbClr val="FF57EA"/>
                </a:solidFill>
                <a:latin typeface="Courier New"/>
                <a:ea typeface="Courier New"/>
                <a:cs typeface="Courier New"/>
                <a:sym typeface="Courier New"/>
              </a:rPr>
              <a:t>05</a:t>
            </a:r>
            <a:endParaRPr b="0" i="0" sz="1600" u="none" cap="none" strike="noStrike">
              <a:solidFill>
                <a:schemeClr val="dk1"/>
              </a:solidFill>
              <a:latin typeface="Calibri"/>
              <a:ea typeface="Calibri"/>
              <a:cs typeface="Calibri"/>
              <a:sym typeface="Calibri"/>
            </a:endParaRPr>
          </a:p>
        </p:txBody>
      </p:sp>
      <p:sp>
        <p:nvSpPr>
          <p:cNvPr id="216" name="Google Shape;216;p13"/>
          <p:cNvSpPr/>
          <p:nvPr/>
        </p:nvSpPr>
        <p:spPr>
          <a:xfrm>
            <a:off x="1280160" y="4782312"/>
            <a:ext cx="86868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50"/>
              <a:buFont typeface="Calibri"/>
              <a:buNone/>
            </a:pPr>
            <a:r>
              <a:rPr b="0" i="0" lang="en-US" sz="1650" u="none" cap="none" strike="noStrike">
                <a:solidFill>
                  <a:srgbClr val="FFFFFF"/>
                </a:solidFill>
                <a:latin typeface="Calibri"/>
                <a:ea typeface="Calibri"/>
                <a:cs typeface="Calibri"/>
                <a:sym typeface="Calibri"/>
              </a:rPr>
              <a:t>Build in public</a:t>
            </a:r>
            <a:endParaRPr b="0" i="0" sz="1650" u="none" cap="none" strike="noStrike">
              <a:solidFill>
                <a:schemeClr val="dk1"/>
              </a:solidFill>
              <a:latin typeface="Calibri"/>
              <a:ea typeface="Calibri"/>
              <a:cs typeface="Calibri"/>
              <a:sym typeface="Calibri"/>
            </a:endParaRPr>
          </a:p>
        </p:txBody>
      </p:sp>
      <p:sp>
        <p:nvSpPr>
          <p:cNvPr id="217" name="Google Shape;217;p13"/>
          <p:cNvSpPr/>
          <p:nvPr/>
        </p:nvSpPr>
        <p:spPr>
          <a:xfrm>
            <a:off x="411480" y="6217920"/>
            <a:ext cx="365760" cy="365760"/>
          </a:xfrm>
          <a:prstGeom prst="roundRect">
            <a:avLst>
              <a:gd fmla="val 20000"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pu_pink.png" id="218" name="Google Shape;218;p13"/>
          <p:cNvPicPr preferRelativeResize="0"/>
          <p:nvPr/>
        </p:nvPicPr>
        <p:blipFill rotWithShape="1">
          <a:blip r:embed="rId4">
            <a:alphaModFix/>
          </a:blip>
          <a:srcRect b="0" l="0" r="0" t="0"/>
          <a:stretch/>
        </p:blipFill>
        <p:spPr>
          <a:xfrm>
            <a:off x="484632" y="6291072"/>
            <a:ext cx="219456" cy="219456"/>
          </a:xfrm>
          <a:prstGeom prst="rect">
            <a:avLst/>
          </a:prstGeom>
          <a:noFill/>
          <a:ln>
            <a:noFill/>
          </a:ln>
        </p:spPr>
      </p:pic>
      <p:sp>
        <p:nvSpPr>
          <p:cNvPr id="219" name="Google Shape;219;p13"/>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4A3"/>
              </a:buClr>
              <a:buSzPts val="1000"/>
              <a:buFont typeface="Courier New"/>
              <a:buNone/>
            </a:pPr>
            <a:r>
              <a:rPr b="0" i="0" lang="en-US" sz="1000" u="none" cap="none" strike="noStrike">
                <a:solidFill>
                  <a:srgbClr val="8A94A3"/>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home/claude/bg/pink_solid.png" id="225" name="Google Shape;225;p14"/>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home/claude/aws_logo_navy.png" id="226" name="Google Shape;226;p14"/>
          <p:cNvPicPr preferRelativeResize="0"/>
          <p:nvPr/>
        </p:nvPicPr>
        <p:blipFill rotWithShape="1">
          <a:blip r:embed="rId4">
            <a:alphaModFix/>
          </a:blip>
          <a:srcRect b="0" l="0" r="0" t="0"/>
          <a:stretch/>
        </p:blipFill>
        <p:spPr>
          <a:xfrm>
            <a:off x="502920" y="5989320"/>
            <a:ext cx="685800" cy="292608"/>
          </a:xfrm>
          <a:prstGeom prst="rect">
            <a:avLst/>
          </a:prstGeom>
          <a:noFill/>
          <a:ln>
            <a:noFill/>
          </a:ln>
        </p:spPr>
      </p:pic>
      <p:sp>
        <p:nvSpPr>
          <p:cNvPr id="227" name="Google Shape;227;p14"/>
          <p:cNvSpPr/>
          <p:nvPr/>
        </p:nvSpPr>
        <p:spPr>
          <a:xfrm>
            <a:off x="685800" y="3017520"/>
            <a:ext cx="1033272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3800"/>
              <a:buFont typeface="Courier New"/>
              <a:buNone/>
            </a:pPr>
            <a:r>
              <a:rPr b="1" i="0" lang="en-US" sz="3800" u="none" cap="none" strike="noStrike">
                <a:solidFill>
                  <a:srgbClr val="161D26"/>
                </a:solidFill>
                <a:latin typeface="Courier New"/>
                <a:ea typeface="Courier New"/>
                <a:cs typeface="Courier New"/>
                <a:sym typeface="Courier New"/>
              </a:rPr>
              <a:t>Let's do something real.</a:t>
            </a:r>
            <a:endParaRPr b="0" i="0" sz="3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home/claude/bg/navy_plain.png" id="233" name="Google Shape;233;p15"/>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34" name="Google Shape;234;p15"/>
          <p:cNvSpPr/>
          <p:nvPr/>
        </p:nvSpPr>
        <p:spPr>
          <a:xfrm>
            <a:off x="640080" y="59436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ourier New"/>
              <a:buNone/>
            </a:pPr>
            <a:r>
              <a:rPr b="1" i="0" lang="en-US" sz="3000" u="none" cap="none" strike="noStrike">
                <a:solidFill>
                  <a:srgbClr val="FFFFFF"/>
                </a:solidFill>
                <a:latin typeface="Courier New"/>
                <a:ea typeface="Courier New"/>
                <a:cs typeface="Courier New"/>
                <a:sym typeface="Courier New"/>
              </a:rPr>
              <a:t>S3 static site deploy.</a:t>
            </a:r>
            <a:endParaRPr b="0" i="0" sz="3000" u="none" cap="none" strike="noStrike">
              <a:solidFill>
                <a:schemeClr val="dk1"/>
              </a:solidFill>
              <a:latin typeface="Calibri"/>
              <a:ea typeface="Calibri"/>
              <a:cs typeface="Calibri"/>
              <a:sym typeface="Calibri"/>
            </a:endParaRPr>
          </a:p>
        </p:txBody>
      </p:sp>
      <p:sp>
        <p:nvSpPr>
          <p:cNvPr id="235" name="Google Shape;235;p15"/>
          <p:cNvSpPr/>
          <p:nvPr/>
        </p:nvSpPr>
        <p:spPr>
          <a:xfrm>
            <a:off x="685800" y="19659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1</a:t>
            </a:r>
            <a:endParaRPr b="0" i="0" sz="2000" u="none" cap="none" strike="noStrike">
              <a:solidFill>
                <a:schemeClr val="dk1"/>
              </a:solidFill>
              <a:latin typeface="Calibri"/>
              <a:ea typeface="Calibri"/>
              <a:cs typeface="Calibri"/>
              <a:sym typeface="Calibri"/>
            </a:endParaRPr>
          </a:p>
        </p:txBody>
      </p:sp>
      <p:sp>
        <p:nvSpPr>
          <p:cNvPr id="236" name="Google Shape;236;p15"/>
          <p:cNvSpPr/>
          <p:nvPr/>
        </p:nvSpPr>
        <p:spPr>
          <a:xfrm>
            <a:off x="1188720" y="20116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Open the AWS Console, already logged in</a:t>
            </a:r>
            <a:endParaRPr b="0" i="0" sz="1350" u="none" cap="none" strike="noStrike">
              <a:solidFill>
                <a:schemeClr val="dk1"/>
              </a:solidFill>
              <a:latin typeface="Calibri"/>
              <a:ea typeface="Calibri"/>
              <a:cs typeface="Calibri"/>
              <a:sym typeface="Calibri"/>
            </a:endParaRPr>
          </a:p>
        </p:txBody>
      </p:sp>
      <p:sp>
        <p:nvSpPr>
          <p:cNvPr id="237" name="Google Shape;237;p15"/>
          <p:cNvSpPr/>
          <p:nvPr/>
        </p:nvSpPr>
        <p:spPr>
          <a:xfrm>
            <a:off x="685800" y="28803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2</a:t>
            </a:r>
            <a:endParaRPr b="0" i="0" sz="2000" u="none" cap="none" strike="noStrike">
              <a:solidFill>
                <a:schemeClr val="dk1"/>
              </a:solidFill>
              <a:latin typeface="Calibri"/>
              <a:ea typeface="Calibri"/>
              <a:cs typeface="Calibri"/>
              <a:sym typeface="Calibri"/>
            </a:endParaRPr>
          </a:p>
        </p:txBody>
      </p:sp>
      <p:sp>
        <p:nvSpPr>
          <p:cNvPr id="238" name="Google Shape;238;p15"/>
          <p:cNvSpPr/>
          <p:nvPr/>
        </p:nvSpPr>
        <p:spPr>
          <a:xfrm>
            <a:off x="1188720" y="29260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Create a new S3 bucket in ca-central-1</a:t>
            </a:r>
            <a:endParaRPr b="0" i="0" sz="1350" u="none" cap="none" strike="noStrike">
              <a:solidFill>
                <a:schemeClr val="dk1"/>
              </a:solidFill>
              <a:latin typeface="Calibri"/>
              <a:ea typeface="Calibri"/>
              <a:cs typeface="Calibri"/>
              <a:sym typeface="Calibri"/>
            </a:endParaRPr>
          </a:p>
        </p:txBody>
      </p:sp>
      <p:sp>
        <p:nvSpPr>
          <p:cNvPr id="239" name="Google Shape;239;p15"/>
          <p:cNvSpPr/>
          <p:nvPr/>
        </p:nvSpPr>
        <p:spPr>
          <a:xfrm>
            <a:off x="685800" y="37947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3</a:t>
            </a:r>
            <a:endParaRPr b="0" i="0" sz="2000" u="none" cap="none" strike="noStrike">
              <a:solidFill>
                <a:schemeClr val="dk1"/>
              </a:solidFill>
              <a:latin typeface="Calibri"/>
              <a:ea typeface="Calibri"/>
              <a:cs typeface="Calibri"/>
              <a:sym typeface="Calibri"/>
            </a:endParaRPr>
          </a:p>
        </p:txBody>
      </p:sp>
      <p:sp>
        <p:nvSpPr>
          <p:cNvPr id="240" name="Google Shape;240;p15"/>
          <p:cNvSpPr/>
          <p:nvPr/>
        </p:nvSpPr>
        <p:spPr>
          <a:xfrm>
            <a:off x="1188720" y="38404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Turn off Block all public access, it's a website</a:t>
            </a:r>
            <a:endParaRPr b="0" i="0" sz="1350" u="none" cap="none" strike="noStrike">
              <a:solidFill>
                <a:schemeClr val="dk1"/>
              </a:solidFill>
              <a:latin typeface="Calibri"/>
              <a:ea typeface="Calibri"/>
              <a:cs typeface="Calibri"/>
              <a:sym typeface="Calibri"/>
            </a:endParaRPr>
          </a:p>
        </p:txBody>
      </p:sp>
      <p:sp>
        <p:nvSpPr>
          <p:cNvPr id="241" name="Google Shape;241;p15"/>
          <p:cNvSpPr/>
          <p:nvPr/>
        </p:nvSpPr>
        <p:spPr>
          <a:xfrm>
            <a:off x="6263640" y="19659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4</a:t>
            </a:r>
            <a:endParaRPr b="0" i="0" sz="2000" u="none" cap="none" strike="noStrike">
              <a:solidFill>
                <a:schemeClr val="dk1"/>
              </a:solidFill>
              <a:latin typeface="Calibri"/>
              <a:ea typeface="Calibri"/>
              <a:cs typeface="Calibri"/>
              <a:sym typeface="Calibri"/>
            </a:endParaRPr>
          </a:p>
        </p:txBody>
      </p:sp>
      <p:sp>
        <p:nvSpPr>
          <p:cNvPr id="242" name="Google Shape;242;p15"/>
          <p:cNvSpPr/>
          <p:nvPr/>
        </p:nvSpPr>
        <p:spPr>
          <a:xfrm>
            <a:off x="6766560" y="20116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Enable static website hosting, index.html</a:t>
            </a:r>
            <a:endParaRPr b="0" i="0" sz="1350" u="none" cap="none" strike="noStrike">
              <a:solidFill>
                <a:schemeClr val="dk1"/>
              </a:solidFill>
              <a:latin typeface="Calibri"/>
              <a:ea typeface="Calibri"/>
              <a:cs typeface="Calibri"/>
              <a:sym typeface="Calibri"/>
            </a:endParaRPr>
          </a:p>
        </p:txBody>
      </p:sp>
      <p:sp>
        <p:nvSpPr>
          <p:cNvPr id="243" name="Google Shape;243;p15"/>
          <p:cNvSpPr/>
          <p:nvPr/>
        </p:nvSpPr>
        <p:spPr>
          <a:xfrm>
            <a:off x="6263640" y="28803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5</a:t>
            </a:r>
            <a:endParaRPr b="0" i="0" sz="2000" u="none" cap="none" strike="noStrike">
              <a:solidFill>
                <a:schemeClr val="dk1"/>
              </a:solidFill>
              <a:latin typeface="Calibri"/>
              <a:ea typeface="Calibri"/>
              <a:cs typeface="Calibri"/>
              <a:sym typeface="Calibri"/>
            </a:endParaRPr>
          </a:p>
        </p:txBody>
      </p:sp>
      <p:sp>
        <p:nvSpPr>
          <p:cNvPr id="244" name="Google Shape;244;p15"/>
          <p:cNvSpPr/>
          <p:nvPr/>
        </p:nvSpPr>
        <p:spPr>
          <a:xfrm>
            <a:off x="6766560" y="29260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Upload the pre-built index.html file</a:t>
            </a:r>
            <a:endParaRPr b="0" i="0" sz="1350" u="none" cap="none" strike="noStrike">
              <a:solidFill>
                <a:schemeClr val="dk1"/>
              </a:solidFill>
              <a:latin typeface="Calibri"/>
              <a:ea typeface="Calibri"/>
              <a:cs typeface="Calibri"/>
              <a:sym typeface="Calibri"/>
            </a:endParaRPr>
          </a:p>
        </p:txBody>
      </p:sp>
      <p:sp>
        <p:nvSpPr>
          <p:cNvPr id="245" name="Google Shape;245;p15"/>
          <p:cNvSpPr/>
          <p:nvPr/>
        </p:nvSpPr>
        <p:spPr>
          <a:xfrm>
            <a:off x="6263640" y="3794760"/>
            <a:ext cx="4572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2B4FF"/>
              </a:buClr>
              <a:buSzPts val="2000"/>
              <a:buFont typeface="Courier New"/>
              <a:buNone/>
            </a:pPr>
            <a:r>
              <a:rPr b="1" i="0" lang="en-US" sz="2000" u="none" cap="none" strike="noStrike">
                <a:solidFill>
                  <a:srgbClr val="42B4FF"/>
                </a:solidFill>
                <a:latin typeface="Courier New"/>
                <a:ea typeface="Courier New"/>
                <a:cs typeface="Courier New"/>
                <a:sym typeface="Courier New"/>
              </a:rPr>
              <a:t>6</a:t>
            </a:r>
            <a:endParaRPr b="0" i="0" sz="2000" u="none" cap="none" strike="noStrike">
              <a:solidFill>
                <a:schemeClr val="dk1"/>
              </a:solidFill>
              <a:latin typeface="Calibri"/>
              <a:ea typeface="Calibri"/>
              <a:cs typeface="Calibri"/>
              <a:sym typeface="Calibri"/>
            </a:endParaRPr>
          </a:p>
        </p:txBody>
      </p:sp>
      <p:sp>
        <p:nvSpPr>
          <p:cNvPr id="246" name="Google Shape;246;p15"/>
          <p:cNvSpPr/>
          <p:nvPr/>
        </p:nvSpPr>
        <p:spPr>
          <a:xfrm>
            <a:off x="6766560" y="3840480"/>
            <a:ext cx="484632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8DCE2"/>
              </a:buClr>
              <a:buSzPts val="1350"/>
              <a:buFont typeface="Calibri"/>
              <a:buNone/>
            </a:pPr>
            <a:r>
              <a:rPr b="0" i="0" lang="en-US" sz="1350" u="none" cap="none" strike="noStrike">
                <a:solidFill>
                  <a:srgbClr val="D8DCE2"/>
                </a:solidFill>
                <a:latin typeface="Calibri"/>
                <a:ea typeface="Calibri"/>
                <a:cs typeface="Calibri"/>
                <a:sym typeface="Calibri"/>
              </a:rPr>
              <a:t>Open the endpoint URL, live for anyone</a:t>
            </a:r>
            <a:endParaRPr b="0" i="0" sz="1350" u="none" cap="none" strike="noStrike">
              <a:solidFill>
                <a:schemeClr val="dk1"/>
              </a:solidFill>
              <a:latin typeface="Calibri"/>
              <a:ea typeface="Calibri"/>
              <a:cs typeface="Calibri"/>
              <a:sym typeface="Calibri"/>
            </a:endParaRPr>
          </a:p>
        </p:txBody>
      </p:sp>
      <p:sp>
        <p:nvSpPr>
          <p:cNvPr id="247" name="Google Shape;247;p15"/>
          <p:cNvSpPr/>
          <p:nvPr/>
        </p:nvSpPr>
        <p:spPr>
          <a:xfrm>
            <a:off x="411480" y="6217920"/>
            <a:ext cx="365760" cy="365760"/>
          </a:xfrm>
          <a:prstGeom prst="roundRect">
            <a:avLst>
              <a:gd fmla="val 20000"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pu_blue.png" id="248" name="Google Shape;248;p15"/>
          <p:cNvPicPr preferRelativeResize="0"/>
          <p:nvPr/>
        </p:nvPicPr>
        <p:blipFill rotWithShape="1">
          <a:blip r:embed="rId4">
            <a:alphaModFix/>
          </a:blip>
          <a:srcRect b="0" l="0" r="0" t="0"/>
          <a:stretch/>
        </p:blipFill>
        <p:spPr>
          <a:xfrm>
            <a:off x="484632" y="6291072"/>
            <a:ext cx="219456" cy="219456"/>
          </a:xfrm>
          <a:prstGeom prst="rect">
            <a:avLst/>
          </a:prstGeom>
          <a:noFill/>
          <a:ln>
            <a:noFill/>
          </a:ln>
        </p:spPr>
      </p:pic>
      <p:sp>
        <p:nvSpPr>
          <p:cNvPr id="249" name="Google Shape;249;p15"/>
          <p:cNvSpPr/>
          <p:nvPr/>
        </p:nvSpPr>
        <p:spPr>
          <a:xfrm>
            <a:off x="7985455" y="6355080"/>
            <a:ext cx="37947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4A3"/>
              </a:buClr>
              <a:buSzPts val="1000"/>
              <a:buFont typeface="Courier New"/>
              <a:buNone/>
            </a:pPr>
            <a:r>
              <a:rPr b="0" i="0" lang="en-US" sz="1000" u="none" cap="none" strike="noStrike">
                <a:solidFill>
                  <a:srgbClr val="8A94A3"/>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descr="/home/claude/bg/blue_solid.png" id="255" name="Google Shape;255;p16"/>
          <p:cNvPicPr preferRelativeResize="0"/>
          <p:nvPr/>
        </p:nvPicPr>
        <p:blipFill rotWithShape="1">
          <a:blip r:embed="rId3">
            <a:alphaModFix/>
          </a:blip>
          <a:srcRect b="0" l="0" r="0" t="0"/>
          <a:stretch/>
        </p:blipFill>
        <p:spPr>
          <a:xfrm>
            <a:off x="0" y="0"/>
            <a:ext cx="12191695" cy="6858000"/>
          </a:xfrm>
          <a:prstGeom prst="rect">
            <a:avLst/>
          </a:prstGeom>
          <a:noFill/>
          <a:ln>
            <a:noFill/>
          </a:ln>
        </p:spPr>
      </p:pic>
      <p:sp>
        <p:nvSpPr>
          <p:cNvPr id="256" name="Google Shape;256;p16"/>
          <p:cNvSpPr/>
          <p:nvPr/>
        </p:nvSpPr>
        <p:spPr>
          <a:xfrm>
            <a:off x="685800" y="822960"/>
            <a:ext cx="6858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D26"/>
              </a:buClr>
              <a:buSzPts val="3400"/>
              <a:buFont typeface="Courier New"/>
              <a:buNone/>
            </a:pPr>
            <a:r>
              <a:rPr b="1" i="0" lang="en-US" sz="3400" u="none" cap="none" strike="noStrike">
                <a:solidFill>
                  <a:srgbClr val="161D26"/>
                </a:solidFill>
                <a:latin typeface="Courier New"/>
                <a:ea typeface="Courier New"/>
                <a:cs typeface="Courier New"/>
                <a:sym typeface="Courier New"/>
              </a:rPr>
              <a:t>Join the Discord.</a:t>
            </a:r>
            <a:endParaRPr b="0" i="0" sz="3400" u="none" cap="none" strike="noStrike">
              <a:solidFill>
                <a:schemeClr val="dk1"/>
              </a:solidFill>
              <a:latin typeface="Calibri"/>
              <a:ea typeface="Calibri"/>
              <a:cs typeface="Calibri"/>
              <a:sym typeface="Calibri"/>
            </a:endParaRPr>
          </a:p>
        </p:txBody>
      </p:sp>
      <p:sp>
        <p:nvSpPr>
          <p:cNvPr id="257" name="Google Shape;257;p16"/>
          <p:cNvSpPr/>
          <p:nvPr/>
        </p:nvSpPr>
        <p:spPr>
          <a:xfrm>
            <a:off x="713232" y="1600200"/>
            <a:ext cx="60350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4D"/>
              </a:buClr>
              <a:buSzPts val="1450"/>
              <a:buFont typeface="Calibri"/>
              <a:buNone/>
            </a:pPr>
            <a:r>
              <a:rPr b="0" i="0" lang="en-US" sz="1450" u="none" cap="none" strike="noStrike">
                <a:solidFill>
                  <a:srgbClr val="00304D"/>
                </a:solidFill>
                <a:latin typeface="Calibri"/>
                <a:ea typeface="Calibri"/>
                <a:cs typeface="Calibri"/>
                <a:sym typeface="Calibri"/>
              </a:rPr>
              <a:t>Scan before you leave, then say hi </a:t>
            </a:r>
            <a:r>
              <a:rPr lang="en-US" sz="1450">
                <a:solidFill>
                  <a:srgbClr val="00304D"/>
                </a:solidFill>
                <a:latin typeface="Calibri"/>
                <a:ea typeface="Calibri"/>
                <a:cs typeface="Calibri"/>
                <a:sym typeface="Calibri"/>
              </a:rPr>
              <a:t>or give an intro </a:t>
            </a:r>
            <a:r>
              <a:rPr b="0" i="0" lang="en-US" sz="1450" u="none" cap="none" strike="noStrike">
                <a:solidFill>
                  <a:srgbClr val="00304D"/>
                </a:solidFill>
                <a:latin typeface="Calibri"/>
                <a:ea typeface="Calibri"/>
                <a:cs typeface="Calibri"/>
                <a:sym typeface="Calibri"/>
              </a:rPr>
              <a:t>in #general.</a:t>
            </a:r>
            <a:endParaRPr b="0" i="0" sz="1450" u="none" cap="none" strike="noStrike">
              <a:solidFill>
                <a:schemeClr val="dk1"/>
              </a:solidFill>
              <a:latin typeface="Calibri"/>
              <a:ea typeface="Calibri"/>
              <a:cs typeface="Calibri"/>
              <a:sym typeface="Calibri"/>
            </a:endParaRPr>
          </a:p>
        </p:txBody>
      </p:sp>
      <p:sp>
        <p:nvSpPr>
          <p:cNvPr id="258" name="Google Shape;258;p16"/>
          <p:cNvSpPr/>
          <p:nvPr/>
        </p:nvSpPr>
        <p:spPr>
          <a:xfrm>
            <a:off x="3657600" y="2514600"/>
            <a:ext cx="7680960" cy="3246120"/>
          </a:xfrm>
          <a:prstGeom prst="roundRect">
            <a:avLst>
              <a:gd fmla="val 2817" name="adj"/>
            </a:avLst>
          </a:prstGeom>
          <a:solidFill>
            <a:srgbClr val="0B2F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3977640" y="278892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B4FF"/>
              </a:buClr>
              <a:buSzPts val="1100"/>
              <a:buFont typeface="Courier New"/>
              <a:buNone/>
            </a:pPr>
            <a:r>
              <a:rPr b="1" i="0" lang="en-US" sz="1100" u="none" cap="none" strike="noStrike">
                <a:solidFill>
                  <a:srgbClr val="42B4FF"/>
                </a:solidFill>
                <a:latin typeface="Courier New"/>
                <a:ea typeface="Courier New"/>
                <a:cs typeface="Courier New"/>
                <a:sym typeface="Courier New"/>
              </a:rPr>
              <a:t>EVENT 2</a:t>
            </a:r>
            <a:endParaRPr b="0" i="0" sz="1100" u="none" cap="none" strike="noStrike">
              <a:solidFill>
                <a:schemeClr val="dk1"/>
              </a:solidFill>
              <a:latin typeface="Calibri"/>
              <a:ea typeface="Calibri"/>
              <a:cs typeface="Calibri"/>
              <a:sym typeface="Calibri"/>
            </a:endParaRPr>
          </a:p>
        </p:txBody>
      </p:sp>
      <p:sp>
        <p:nvSpPr>
          <p:cNvPr id="260" name="Google Shape;260;p16"/>
          <p:cNvSpPr/>
          <p:nvPr/>
        </p:nvSpPr>
        <p:spPr>
          <a:xfrm>
            <a:off x="3977640" y="3108960"/>
            <a:ext cx="69494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ourier New"/>
              <a:buNone/>
            </a:pPr>
            <a:r>
              <a:rPr b="1" i="0" lang="en-US" sz="2400" u="none" cap="none" strike="noStrike">
                <a:solidFill>
                  <a:srgbClr val="FFFFFF"/>
                </a:solidFill>
                <a:latin typeface="Courier New"/>
                <a:ea typeface="Courier New"/>
                <a:cs typeface="Courier New"/>
                <a:sym typeface="Courier New"/>
              </a:rPr>
              <a:t>AWS 101 Workshop</a:t>
            </a:r>
            <a:endParaRPr b="0" i="0" sz="2400" u="none" cap="none" strike="noStrike">
              <a:solidFill>
                <a:schemeClr val="dk1"/>
              </a:solidFill>
              <a:latin typeface="Calibri"/>
              <a:ea typeface="Calibri"/>
              <a:cs typeface="Calibri"/>
              <a:sym typeface="Calibri"/>
            </a:endParaRPr>
          </a:p>
        </p:txBody>
      </p:sp>
      <p:sp>
        <p:nvSpPr>
          <p:cNvPr id="261" name="Google Shape;261;p16"/>
          <p:cNvSpPr/>
          <p:nvPr/>
        </p:nvSpPr>
        <p:spPr>
          <a:xfrm>
            <a:off x="3977640" y="3703320"/>
            <a:ext cx="6949440" cy="8229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C7CDD6"/>
              </a:buClr>
              <a:buSzPts val="1400"/>
              <a:buFont typeface="Calibri"/>
              <a:buNone/>
            </a:pPr>
            <a:r>
              <a:rPr b="0" i="0" lang="en-US" sz="1400" u="none" cap="none" strike="noStrike">
                <a:solidFill>
                  <a:srgbClr val="C7CDD6"/>
                </a:solidFill>
                <a:latin typeface="Calibri"/>
                <a:ea typeface="Calibri"/>
                <a:cs typeface="Calibri"/>
                <a:sym typeface="Calibri"/>
              </a:rPr>
              <a:t>Set up your AWS account, deploy real infrastructure, leave with something running. Bring your laptop.</a:t>
            </a:r>
            <a:endParaRPr b="0" i="0" sz="1400" u="none" cap="none" strike="noStrike">
              <a:solidFill>
                <a:schemeClr val="dk1"/>
              </a:solidFill>
              <a:latin typeface="Calibri"/>
              <a:ea typeface="Calibri"/>
              <a:cs typeface="Calibri"/>
              <a:sym typeface="Calibri"/>
            </a:endParaRPr>
          </a:p>
        </p:txBody>
      </p:sp>
      <p:sp>
        <p:nvSpPr>
          <p:cNvPr id="262" name="Google Shape;262;p16"/>
          <p:cNvSpPr/>
          <p:nvPr/>
        </p:nvSpPr>
        <p:spPr>
          <a:xfrm>
            <a:off x="3977640" y="5120640"/>
            <a:ext cx="6949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3"/>
              </a:buClr>
              <a:buSzPts val="1200"/>
              <a:buFont typeface="Calibri"/>
              <a:buNone/>
            </a:pPr>
            <a:r>
              <a:rPr b="0" i="1" lang="en-US" sz="1200" u="none" cap="none" strike="noStrike">
                <a:solidFill>
                  <a:srgbClr val="8A94A3"/>
                </a:solidFill>
                <a:latin typeface="Calibri"/>
                <a:ea typeface="Calibri"/>
                <a:cs typeface="Calibri"/>
                <a:sym typeface="Calibri"/>
              </a:rPr>
              <a:t>Date and time in the Discord  ·  updates on Instagram too</a:t>
            </a:r>
            <a:endParaRPr b="0" i="0" sz="1200" u="none" cap="none" strike="noStrike">
              <a:solidFill>
                <a:schemeClr val="dk1"/>
              </a:solidFill>
              <a:latin typeface="Calibri"/>
              <a:ea typeface="Calibri"/>
              <a:cs typeface="Calibri"/>
              <a:sym typeface="Calibri"/>
            </a:endParaRPr>
          </a:p>
        </p:txBody>
      </p:sp>
      <p:sp>
        <p:nvSpPr>
          <p:cNvPr id="263" name="Google Shape;263;p16"/>
          <p:cNvSpPr/>
          <p:nvPr/>
        </p:nvSpPr>
        <p:spPr>
          <a:xfrm>
            <a:off x="685800" y="6080760"/>
            <a:ext cx="384048" cy="384048"/>
          </a:xfrm>
          <a:prstGeom prst="roundRect">
            <a:avLst>
              <a:gd fmla="val 19048" name="adj"/>
            </a:avLst>
          </a:prstGeom>
          <a:solidFill>
            <a:srgbClr val="161D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icons/Cpu_blue.png" id="264" name="Google Shape;264;p16"/>
          <p:cNvPicPr preferRelativeResize="0"/>
          <p:nvPr/>
        </p:nvPicPr>
        <p:blipFill rotWithShape="1">
          <a:blip r:embed="rId4">
            <a:alphaModFix/>
          </a:blip>
          <a:srcRect b="0" l="0" r="0" t="0"/>
          <a:stretch/>
        </p:blipFill>
        <p:spPr>
          <a:xfrm>
            <a:off x="758952" y="6153912"/>
            <a:ext cx="237744" cy="237744"/>
          </a:xfrm>
          <a:prstGeom prst="rect">
            <a:avLst/>
          </a:prstGeom>
          <a:noFill/>
          <a:ln>
            <a:noFill/>
          </a:ln>
        </p:spPr>
      </p:pic>
      <p:sp>
        <p:nvSpPr>
          <p:cNvPr id="265" name="Google Shape;265;p16"/>
          <p:cNvSpPr/>
          <p:nvPr/>
        </p:nvSpPr>
        <p:spPr>
          <a:xfrm>
            <a:off x="1188720" y="603504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304D"/>
              </a:buClr>
              <a:buSzPts val="1000"/>
              <a:buFont typeface="Courier New"/>
              <a:buNone/>
            </a:pPr>
            <a:r>
              <a:rPr b="0" i="0" lang="en-US" sz="1000" u="none" cap="none" strike="noStrike">
                <a:solidFill>
                  <a:srgbClr val="00304D"/>
                </a:solidFill>
                <a:latin typeface="Courier New"/>
                <a:ea typeface="Courier New"/>
                <a:cs typeface="Courier New"/>
                <a:sym typeface="Courier New"/>
              </a:rPr>
              <a:t>AWS Student Builder Group  ·  Seneca Polytechnic</a:t>
            </a:r>
            <a:endParaRPr b="0" i="0" sz="1000" u="none" cap="none" strike="noStrike">
              <a:solidFill>
                <a:schemeClr val="dk1"/>
              </a:solidFill>
              <a:latin typeface="Calibri"/>
              <a:ea typeface="Calibri"/>
              <a:cs typeface="Calibri"/>
              <a:sym typeface="Calibri"/>
            </a:endParaRPr>
          </a:p>
        </p:txBody>
      </p:sp>
      <p:pic>
        <p:nvPicPr>
          <p:cNvPr id="266" name="Google Shape;266;p16" title="Untitled.jpeg"/>
          <p:cNvPicPr preferRelativeResize="0"/>
          <p:nvPr/>
        </p:nvPicPr>
        <p:blipFill>
          <a:blip r:embed="rId5">
            <a:alphaModFix/>
          </a:blip>
          <a:stretch>
            <a:fillRect/>
          </a:stretch>
        </p:blipFill>
        <p:spPr>
          <a:xfrm>
            <a:off x="685800" y="2883488"/>
            <a:ext cx="2508349" cy="2508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